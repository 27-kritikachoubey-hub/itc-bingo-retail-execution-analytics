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sldIdLst>
    <p:sldId id="256" r:id="rId2"/>
    <p:sldId id="257" r:id="rId3"/>
    <p:sldId id="260" r:id="rId4"/>
    <p:sldId id="259" r:id="rId5"/>
    <p:sldId id="261" r:id="rId6"/>
    <p:sldId id="264" r:id="rId7"/>
    <p:sldId id="262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3DAA"/>
    <a:srgbClr val="042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46575D-F1F2-4D87-9224-F55F3FA67983}" v="1" dt="2026-07-14T16:10:40.666"/>
    <p1510:client id="{E9572DE2-97B1-40A9-B9B3-5086A73CD297}" v="570" dt="2026-07-14T18:09:37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BF8FDC-E163-4CAC-B229-F7EF8ACA4179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99D759A3-7A64-45D1-841F-51B294A2EB6F}">
      <dgm:prSet phldrT="[Text]" phldr="0" custT="1"/>
      <dgm:spPr/>
      <dgm:t>
        <a:bodyPr/>
        <a:lstStyle/>
        <a:p>
          <a:pPr algn="l" rtl="0"/>
          <a:r>
            <a:rPr lang="en-US" sz="2000" b="1" dirty="0">
              <a:latin typeface="Times New Roman"/>
              <a:cs typeface="Times New Roman"/>
            </a:rPr>
            <a:t>Business Context</a:t>
          </a:r>
          <a:r>
            <a:rPr lang="en-US" sz="2000" dirty="0">
              <a:latin typeface="Times New Roman"/>
              <a:cs typeface="Times New Roman"/>
            </a:rPr>
            <a:t>-The East Delhi market is highly competitive, where product visibility, outlet coverage, and retail executio</a:t>
          </a:r>
          <a:r>
            <a:rPr lang="en-US" sz="1900" dirty="0">
              <a:latin typeface="Times New Roman"/>
              <a:cs typeface="Times New Roman"/>
            </a:rPr>
            <a:t>n significantly influence consumer purchase decisions. Maintaining a strong in-store presence is essential for sustaining the competitiveness of the Bingo! snacks portfolio.</a:t>
          </a:r>
        </a:p>
      </dgm:t>
    </dgm:pt>
    <dgm:pt modelId="{25B337AE-D79A-41A2-BE79-EB88001E795B}" type="parTrans" cxnId="{68F4B6AA-C473-4DF2-AE0C-AAEF2BF22C0D}">
      <dgm:prSet/>
      <dgm:spPr/>
      <dgm:t>
        <a:bodyPr/>
        <a:lstStyle/>
        <a:p>
          <a:endParaRPr lang="en-IN"/>
        </a:p>
      </dgm:t>
    </dgm:pt>
    <dgm:pt modelId="{D07B8780-062E-43D6-9BB8-D6CE8CCC9ADC}" type="sibTrans" cxnId="{68F4B6AA-C473-4DF2-AE0C-AAEF2BF22C0D}">
      <dgm:prSet/>
      <dgm:spPr/>
      <dgm:t>
        <a:bodyPr/>
        <a:lstStyle/>
        <a:p>
          <a:endParaRPr lang="en-IN"/>
        </a:p>
      </dgm:t>
    </dgm:pt>
    <dgm:pt modelId="{F7729360-ACB9-444F-B224-589C652E1550}">
      <dgm:prSet phldrT="[Text]" phldr="0" custT="1"/>
      <dgm:spPr/>
      <dgm:t>
        <a:bodyPr/>
        <a:lstStyle/>
        <a:p>
          <a:pPr algn="l" rtl="0"/>
          <a:r>
            <a:rPr lang="en-US" sz="1900" b="1" dirty="0">
              <a:latin typeface="Times New Roman"/>
              <a:cs typeface="Times New Roman"/>
            </a:rPr>
            <a:t>Project Insight</a:t>
          </a:r>
          <a:r>
            <a:rPr lang="en-US" sz="1900" b="0" dirty="0">
              <a:latin typeface="Times New Roman"/>
              <a:cs typeface="Times New Roman"/>
            </a:rPr>
            <a:t>-During</a:t>
          </a:r>
          <a:r>
            <a:rPr lang="en-US" sz="1900" dirty="0">
              <a:latin typeface="Times New Roman"/>
              <a:cs typeface="Times New Roman"/>
            </a:rPr>
            <a:t> regular market visits, I observed that retail outlets varied considerably in terms of rack health, visibility, assortment, stock availability, and competitor presence. These observations led to the development of a structured outlet database to identify high-potential outlets and recommend improvements in retail execution.</a:t>
          </a:r>
        </a:p>
      </dgm:t>
    </dgm:pt>
    <dgm:pt modelId="{9F20588A-1A03-4946-90BC-26893FCF5EB2}" type="parTrans" cxnId="{CC159BD5-3B4E-4B3B-90AD-39125E53C8D3}">
      <dgm:prSet/>
      <dgm:spPr/>
      <dgm:t>
        <a:bodyPr/>
        <a:lstStyle/>
        <a:p>
          <a:endParaRPr lang="en-IN"/>
        </a:p>
      </dgm:t>
    </dgm:pt>
    <dgm:pt modelId="{12C7F659-003F-4528-9178-D648656A656E}" type="sibTrans" cxnId="{CC159BD5-3B4E-4B3B-90AD-39125E53C8D3}">
      <dgm:prSet/>
      <dgm:spPr/>
      <dgm:t>
        <a:bodyPr/>
        <a:lstStyle/>
        <a:p>
          <a:endParaRPr lang="en-IN"/>
        </a:p>
      </dgm:t>
    </dgm:pt>
    <dgm:pt modelId="{8742F238-7342-400E-842B-B01BFBE80B3C}">
      <dgm:prSet phldrT="[Text]" phldr="0" custT="1"/>
      <dgm:spPr/>
      <dgm:t>
        <a:bodyPr/>
        <a:lstStyle/>
        <a:p>
          <a:pPr algn="l" rtl="0"/>
          <a:r>
            <a:rPr lang="en-US" sz="1900" b="1" dirty="0">
              <a:latin typeface="Times New Roman"/>
              <a:cs typeface="Times New Roman"/>
            </a:rPr>
            <a:t>Project Assignment- </a:t>
          </a:r>
          <a:r>
            <a:rPr lang="en-US" sz="1900" dirty="0">
              <a:latin typeface="Times New Roman"/>
              <a:cs typeface="Times New Roman"/>
            </a:rPr>
            <a:t>As part of the internship, I was assigned to: </a:t>
          </a:r>
          <a:br>
            <a:rPr lang="en-US" sz="1900" dirty="0">
              <a:latin typeface="Times New Roman"/>
              <a:cs typeface="Times New Roman"/>
            </a:rPr>
          </a:br>
          <a:r>
            <a:rPr lang="en-US" sz="1900" dirty="0">
              <a:latin typeface="Times New Roman"/>
              <a:cs typeface="Times New Roman"/>
            </a:rPr>
            <a:t>Improve Bingo! visibility across retail outlets. </a:t>
          </a:r>
          <a:br>
            <a:rPr lang="en-US" sz="1900" dirty="0">
              <a:latin typeface="Times New Roman"/>
              <a:cs typeface="Times New Roman"/>
            </a:rPr>
          </a:br>
          <a:r>
            <a:rPr lang="en-US" sz="1900" dirty="0">
              <a:latin typeface="Times New Roman"/>
              <a:cs typeface="Times New Roman"/>
            </a:rPr>
            <a:t>Ensure targeted SKU billing (₹2,500+ per outlet. </a:t>
          </a:r>
          <a:br>
            <a:rPr lang="en-US" sz="1900" dirty="0">
              <a:latin typeface="Times New Roman"/>
              <a:cs typeface="Times New Roman"/>
            </a:rPr>
          </a:br>
          <a:r>
            <a:rPr lang="en-US" sz="1900" dirty="0">
              <a:latin typeface="Times New Roman"/>
              <a:cs typeface="Times New Roman"/>
            </a:rPr>
            <a:t>Monitor merchandising and rack execution. </a:t>
          </a:r>
          <a:br>
            <a:rPr lang="en-US" sz="1900" dirty="0">
              <a:latin typeface="Times New Roman"/>
              <a:cs typeface="Times New Roman"/>
            </a:rPr>
          </a:br>
          <a:r>
            <a:rPr lang="en-US" sz="1900" dirty="0">
              <a:latin typeface="Times New Roman"/>
              <a:cs typeface="Times New Roman"/>
            </a:rPr>
            <a:t>Benchmark competitor presence, assortment, </a:t>
          </a:r>
          <a:r>
            <a:rPr lang="en-US" sz="1900" dirty="0" err="1">
              <a:latin typeface="Times New Roman"/>
              <a:cs typeface="Times New Roman"/>
            </a:rPr>
            <a:t>andpromotional</a:t>
          </a:r>
          <a:r>
            <a:rPr lang="en-US" sz="1900" dirty="0">
              <a:latin typeface="Times New Roman"/>
              <a:cs typeface="Times New Roman"/>
            </a:rPr>
            <a:t> activities. </a:t>
          </a:r>
        </a:p>
      </dgm:t>
    </dgm:pt>
    <dgm:pt modelId="{26E20308-3A4F-4574-BB2B-1444690D5581}" type="parTrans" cxnId="{B06DD18A-4433-46A7-B5E1-D71BA58D41EE}">
      <dgm:prSet/>
      <dgm:spPr/>
      <dgm:t>
        <a:bodyPr/>
        <a:lstStyle/>
        <a:p>
          <a:endParaRPr lang="en-IN"/>
        </a:p>
      </dgm:t>
    </dgm:pt>
    <dgm:pt modelId="{F06B9BBA-3F5C-40DB-87CA-B293401B44FC}" type="sibTrans" cxnId="{B06DD18A-4433-46A7-B5E1-D71BA58D41EE}">
      <dgm:prSet/>
      <dgm:spPr/>
      <dgm:t>
        <a:bodyPr/>
        <a:lstStyle/>
        <a:p>
          <a:endParaRPr lang="en-IN"/>
        </a:p>
      </dgm:t>
    </dgm:pt>
    <dgm:pt modelId="{B05255C6-1225-4C62-A1FD-683ED31E98BC}" type="pres">
      <dgm:prSet presAssocID="{7FBF8FDC-E163-4CAC-B229-F7EF8ACA4179}" presName="linear" presStyleCnt="0">
        <dgm:presLayoutVars>
          <dgm:animLvl val="lvl"/>
          <dgm:resizeHandles val="exact"/>
        </dgm:presLayoutVars>
      </dgm:prSet>
      <dgm:spPr/>
    </dgm:pt>
    <dgm:pt modelId="{6B227EA2-E063-4084-898D-58DF49A79C6E}" type="pres">
      <dgm:prSet presAssocID="{99D759A3-7A64-45D1-841F-51B294A2EB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1974789-3A44-4311-AAE9-7103BB2B0C6A}" type="pres">
      <dgm:prSet presAssocID="{D07B8780-062E-43D6-9BB8-D6CE8CCC9ADC}" presName="spacer" presStyleCnt="0"/>
      <dgm:spPr/>
    </dgm:pt>
    <dgm:pt modelId="{DB31CDF7-E478-49F9-ADF3-F3D21A7A45E2}" type="pres">
      <dgm:prSet presAssocID="{F7729360-ACB9-444F-B224-589C652E15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92436BC-70C2-41A0-919C-AB8B3C840CEA}" type="pres">
      <dgm:prSet presAssocID="{12C7F659-003F-4528-9178-D648656A656E}" presName="spacer" presStyleCnt="0"/>
      <dgm:spPr/>
    </dgm:pt>
    <dgm:pt modelId="{AF75728D-CC99-4F39-A919-FC01C5675DE8}" type="pres">
      <dgm:prSet presAssocID="{8742F238-7342-400E-842B-B01BFBE80B3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32A804-1B40-42B0-BE58-4DA622D24BBA}" type="presOf" srcId="{F7729360-ACB9-444F-B224-589C652E1550}" destId="{DB31CDF7-E478-49F9-ADF3-F3D21A7A45E2}" srcOrd="0" destOrd="0" presId="urn:microsoft.com/office/officeart/2005/8/layout/vList2"/>
    <dgm:cxn modelId="{52207E30-60BF-4214-BDF0-3A7344C248D5}" type="presOf" srcId="{8742F238-7342-400E-842B-B01BFBE80B3C}" destId="{AF75728D-CC99-4F39-A919-FC01C5675DE8}" srcOrd="0" destOrd="0" presId="urn:microsoft.com/office/officeart/2005/8/layout/vList2"/>
    <dgm:cxn modelId="{8B0F0732-27A7-49DE-8FD5-6630FE90FC5C}" type="presOf" srcId="{7FBF8FDC-E163-4CAC-B229-F7EF8ACA4179}" destId="{B05255C6-1225-4C62-A1FD-683ED31E98BC}" srcOrd="0" destOrd="0" presId="urn:microsoft.com/office/officeart/2005/8/layout/vList2"/>
    <dgm:cxn modelId="{65414283-3098-4C8A-BD58-F9AAF24DC7E1}" type="presOf" srcId="{99D759A3-7A64-45D1-841F-51B294A2EB6F}" destId="{6B227EA2-E063-4084-898D-58DF49A79C6E}" srcOrd="0" destOrd="0" presId="urn:microsoft.com/office/officeart/2005/8/layout/vList2"/>
    <dgm:cxn modelId="{B06DD18A-4433-46A7-B5E1-D71BA58D41EE}" srcId="{7FBF8FDC-E163-4CAC-B229-F7EF8ACA4179}" destId="{8742F238-7342-400E-842B-B01BFBE80B3C}" srcOrd="2" destOrd="0" parTransId="{26E20308-3A4F-4574-BB2B-1444690D5581}" sibTransId="{F06B9BBA-3F5C-40DB-87CA-B293401B44FC}"/>
    <dgm:cxn modelId="{68F4B6AA-C473-4DF2-AE0C-AAEF2BF22C0D}" srcId="{7FBF8FDC-E163-4CAC-B229-F7EF8ACA4179}" destId="{99D759A3-7A64-45D1-841F-51B294A2EB6F}" srcOrd="0" destOrd="0" parTransId="{25B337AE-D79A-41A2-BE79-EB88001E795B}" sibTransId="{D07B8780-062E-43D6-9BB8-D6CE8CCC9ADC}"/>
    <dgm:cxn modelId="{CC159BD5-3B4E-4B3B-90AD-39125E53C8D3}" srcId="{7FBF8FDC-E163-4CAC-B229-F7EF8ACA4179}" destId="{F7729360-ACB9-444F-B224-589C652E1550}" srcOrd="1" destOrd="0" parTransId="{9F20588A-1A03-4946-90BC-26893FCF5EB2}" sibTransId="{12C7F659-003F-4528-9178-D648656A656E}"/>
    <dgm:cxn modelId="{735C96B8-B840-4A33-B2AC-D64D398CE271}" type="presParOf" srcId="{B05255C6-1225-4C62-A1FD-683ED31E98BC}" destId="{6B227EA2-E063-4084-898D-58DF49A79C6E}" srcOrd="0" destOrd="0" presId="urn:microsoft.com/office/officeart/2005/8/layout/vList2"/>
    <dgm:cxn modelId="{C30DC3A0-81D7-4EF8-AE49-966C4A359C73}" type="presParOf" srcId="{B05255C6-1225-4C62-A1FD-683ED31E98BC}" destId="{81974789-3A44-4311-AAE9-7103BB2B0C6A}" srcOrd="1" destOrd="0" presId="urn:microsoft.com/office/officeart/2005/8/layout/vList2"/>
    <dgm:cxn modelId="{71DE3552-90FF-4FEB-B25F-CD03594AD87C}" type="presParOf" srcId="{B05255C6-1225-4C62-A1FD-683ED31E98BC}" destId="{DB31CDF7-E478-49F9-ADF3-F3D21A7A45E2}" srcOrd="2" destOrd="0" presId="urn:microsoft.com/office/officeart/2005/8/layout/vList2"/>
    <dgm:cxn modelId="{5D70C93F-1CC5-4F61-9161-F3BB8CB85B59}" type="presParOf" srcId="{B05255C6-1225-4C62-A1FD-683ED31E98BC}" destId="{B92436BC-70C2-41A0-919C-AB8B3C840CEA}" srcOrd="3" destOrd="0" presId="urn:microsoft.com/office/officeart/2005/8/layout/vList2"/>
    <dgm:cxn modelId="{FF77E346-2F54-44A6-9974-966DEFE2C663}" type="presParOf" srcId="{B05255C6-1225-4C62-A1FD-683ED31E98BC}" destId="{AF75728D-CC99-4F39-A919-FC01C5675DE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B5EA03-5299-44DB-8D00-339D80F0965A}" type="doc">
      <dgm:prSet loTypeId="urn:microsoft.com/office/officeart/2005/8/layout/default" loCatId="list" qsTypeId="urn:microsoft.com/office/officeart/2005/8/quickstyle/simple1" qsCatId="simple" csTypeId="urn:microsoft.com/office/officeart/2005/8/colors/accent6_4" csCatId="accent6"/>
      <dgm:spPr/>
      <dgm:t>
        <a:bodyPr/>
        <a:lstStyle/>
        <a:p>
          <a:endParaRPr lang="en-US"/>
        </a:p>
      </dgm:t>
    </dgm:pt>
    <dgm:pt modelId="{79E353B2-BC93-409A-8417-1F8044FB7EAA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To understand retail execution practices and merchandising standards for the Bingo! portfolio in the East Delhi market. </a:t>
          </a:r>
        </a:p>
      </dgm:t>
    </dgm:pt>
    <dgm:pt modelId="{70618AD7-9B39-4915-BE87-2BB478ABAD80}" type="parTrans" cxnId="{975A4118-02BB-4E59-9BD6-9AE22567CB6B}">
      <dgm:prSet/>
      <dgm:spPr/>
      <dgm:t>
        <a:bodyPr/>
        <a:lstStyle/>
        <a:p>
          <a:endParaRPr lang="en-US"/>
        </a:p>
      </dgm:t>
    </dgm:pt>
    <dgm:pt modelId="{DF1DB223-FE42-4B88-88EE-90B767ADAA7F}" type="sibTrans" cxnId="{975A4118-02BB-4E59-9BD6-9AE22567CB6B}">
      <dgm:prSet/>
      <dgm:spPr/>
      <dgm:t>
        <a:bodyPr/>
        <a:lstStyle/>
        <a:p>
          <a:endParaRPr lang="en-US"/>
        </a:p>
      </dgm:t>
    </dgm:pt>
    <dgm:pt modelId="{5C671E88-D3DA-4078-BF8D-D4CF4AD6918D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To conduct structured field observations and develop a comprehensive outlet-level database. </a:t>
          </a:r>
        </a:p>
      </dgm:t>
    </dgm:pt>
    <dgm:pt modelId="{C5F82245-9D4C-4F5D-9496-2166216B4BD9}" type="parTrans" cxnId="{602446A3-3FB6-405D-A9E6-B388612D48D1}">
      <dgm:prSet/>
      <dgm:spPr/>
      <dgm:t>
        <a:bodyPr/>
        <a:lstStyle/>
        <a:p>
          <a:endParaRPr lang="en-US"/>
        </a:p>
      </dgm:t>
    </dgm:pt>
    <dgm:pt modelId="{8AA9C998-CD9E-4A98-A104-3CD58F8A1567}" type="sibTrans" cxnId="{602446A3-3FB6-405D-A9E6-B388612D48D1}">
      <dgm:prSet/>
      <dgm:spPr/>
      <dgm:t>
        <a:bodyPr/>
        <a:lstStyle/>
        <a:p>
          <a:endParaRPr lang="en-US"/>
        </a:p>
      </dgm:t>
    </dgm:pt>
    <dgm:pt modelId="{028EBCF3-C00F-4C48-8CC1-D4CA9D02F21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To evaluate retail outlets using key execution parameters such as visibility, assortment, rack health, stock availability, footfall, and competitor presence. </a:t>
          </a:r>
        </a:p>
      </dgm:t>
    </dgm:pt>
    <dgm:pt modelId="{B4C62E27-BAE2-4411-84DF-5B426673C4E8}" type="parTrans" cxnId="{2738861E-61E9-418A-992B-FB11F8288C1C}">
      <dgm:prSet/>
      <dgm:spPr/>
      <dgm:t>
        <a:bodyPr/>
        <a:lstStyle/>
        <a:p>
          <a:endParaRPr lang="en-US"/>
        </a:p>
      </dgm:t>
    </dgm:pt>
    <dgm:pt modelId="{855E8E45-3FA9-41FB-9A1D-0E0DADC2AE36}" type="sibTrans" cxnId="{2738861E-61E9-418A-992B-FB11F8288C1C}">
      <dgm:prSet/>
      <dgm:spPr/>
      <dgm:t>
        <a:bodyPr/>
        <a:lstStyle/>
        <a:p>
          <a:endParaRPr lang="en-US"/>
        </a:p>
      </dgm:t>
    </dgm:pt>
    <dgm:pt modelId="{A76A2942-EE72-40C4-9172-5B3077B4283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To identify high-potential outlets with opportunities for improving retail execution and business performance. </a:t>
          </a:r>
        </a:p>
      </dgm:t>
    </dgm:pt>
    <dgm:pt modelId="{E50BE205-61DD-4DD7-8394-8C83AEB15992}" type="parTrans" cxnId="{E4073978-F26E-4FCE-98B9-31D4504CBE08}">
      <dgm:prSet/>
      <dgm:spPr/>
      <dgm:t>
        <a:bodyPr/>
        <a:lstStyle/>
        <a:p>
          <a:endParaRPr lang="en-US"/>
        </a:p>
      </dgm:t>
    </dgm:pt>
    <dgm:pt modelId="{6B0F3A68-B1E2-4D95-A844-E262B5124CDF}" type="sibTrans" cxnId="{E4073978-F26E-4FCE-98B9-31D4504CBE08}">
      <dgm:prSet/>
      <dgm:spPr/>
      <dgm:t>
        <a:bodyPr/>
        <a:lstStyle/>
        <a:p>
          <a:endParaRPr lang="en-US"/>
        </a:p>
      </dgm:t>
    </dgm:pt>
    <dgm:pt modelId="{D5298DBE-1CDD-4DA3-9EF9-E39311B9F47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To recommend data-driven strategies for strengthening outlet prioritization and enhancing the effectiveness of retail execution.</a:t>
          </a:r>
        </a:p>
      </dgm:t>
    </dgm:pt>
    <dgm:pt modelId="{5839A711-8615-4E15-8705-200A19C5533B}" type="parTrans" cxnId="{2059D76B-BF95-4A50-A623-210481529909}">
      <dgm:prSet/>
      <dgm:spPr/>
      <dgm:t>
        <a:bodyPr/>
        <a:lstStyle/>
        <a:p>
          <a:endParaRPr lang="en-US"/>
        </a:p>
      </dgm:t>
    </dgm:pt>
    <dgm:pt modelId="{AD32CE0A-3C75-423A-827A-B016DCFDB768}" type="sibTrans" cxnId="{2059D76B-BF95-4A50-A623-210481529909}">
      <dgm:prSet/>
      <dgm:spPr/>
      <dgm:t>
        <a:bodyPr/>
        <a:lstStyle/>
        <a:p>
          <a:endParaRPr lang="en-US"/>
        </a:p>
      </dgm:t>
    </dgm:pt>
    <dgm:pt modelId="{AA7BFD78-D455-4770-B005-6C606F72C057}" type="pres">
      <dgm:prSet presAssocID="{78B5EA03-5299-44DB-8D00-339D80F0965A}" presName="diagram" presStyleCnt="0">
        <dgm:presLayoutVars>
          <dgm:dir/>
          <dgm:resizeHandles val="exact"/>
        </dgm:presLayoutVars>
      </dgm:prSet>
      <dgm:spPr/>
    </dgm:pt>
    <dgm:pt modelId="{BCE03493-683F-4E14-BDF1-E0DE6A716F5F}" type="pres">
      <dgm:prSet presAssocID="{79E353B2-BC93-409A-8417-1F8044FB7EAA}" presName="node" presStyleLbl="node1" presStyleIdx="0" presStyleCnt="5">
        <dgm:presLayoutVars>
          <dgm:bulletEnabled val="1"/>
        </dgm:presLayoutVars>
      </dgm:prSet>
      <dgm:spPr/>
    </dgm:pt>
    <dgm:pt modelId="{0DAA6AFC-547A-4C50-B045-E2825B909504}" type="pres">
      <dgm:prSet presAssocID="{DF1DB223-FE42-4B88-88EE-90B767ADAA7F}" presName="sibTrans" presStyleCnt="0"/>
      <dgm:spPr/>
    </dgm:pt>
    <dgm:pt modelId="{33E4EF18-EB0C-4017-B45E-8B0EADBBFDE6}" type="pres">
      <dgm:prSet presAssocID="{5C671E88-D3DA-4078-BF8D-D4CF4AD6918D}" presName="node" presStyleLbl="node1" presStyleIdx="1" presStyleCnt="5">
        <dgm:presLayoutVars>
          <dgm:bulletEnabled val="1"/>
        </dgm:presLayoutVars>
      </dgm:prSet>
      <dgm:spPr/>
    </dgm:pt>
    <dgm:pt modelId="{697703C5-1637-4B48-A515-DF31F354C7F3}" type="pres">
      <dgm:prSet presAssocID="{8AA9C998-CD9E-4A98-A104-3CD58F8A1567}" presName="sibTrans" presStyleCnt="0"/>
      <dgm:spPr/>
    </dgm:pt>
    <dgm:pt modelId="{BA48E8B5-09B7-4BE0-9199-FE27460F0B72}" type="pres">
      <dgm:prSet presAssocID="{028EBCF3-C00F-4C48-8CC1-D4CA9D02F210}" presName="node" presStyleLbl="node1" presStyleIdx="2" presStyleCnt="5">
        <dgm:presLayoutVars>
          <dgm:bulletEnabled val="1"/>
        </dgm:presLayoutVars>
      </dgm:prSet>
      <dgm:spPr/>
    </dgm:pt>
    <dgm:pt modelId="{C583E522-53DF-4D66-B0C3-3C9309623A72}" type="pres">
      <dgm:prSet presAssocID="{855E8E45-3FA9-41FB-9A1D-0E0DADC2AE36}" presName="sibTrans" presStyleCnt="0"/>
      <dgm:spPr/>
    </dgm:pt>
    <dgm:pt modelId="{15938D84-8CD4-4715-B5EE-6001B051DF32}" type="pres">
      <dgm:prSet presAssocID="{A76A2942-EE72-40C4-9172-5B3077B42836}" presName="node" presStyleLbl="node1" presStyleIdx="3" presStyleCnt="5">
        <dgm:presLayoutVars>
          <dgm:bulletEnabled val="1"/>
        </dgm:presLayoutVars>
      </dgm:prSet>
      <dgm:spPr/>
    </dgm:pt>
    <dgm:pt modelId="{729511AF-80E4-4C52-AEE4-F7A6BC1687E4}" type="pres">
      <dgm:prSet presAssocID="{6B0F3A68-B1E2-4D95-A844-E262B5124CDF}" presName="sibTrans" presStyleCnt="0"/>
      <dgm:spPr/>
    </dgm:pt>
    <dgm:pt modelId="{F1D133C7-6776-48F1-A231-0723F8AE5875}" type="pres">
      <dgm:prSet presAssocID="{D5298DBE-1CDD-4DA3-9EF9-E39311B9F472}" presName="node" presStyleLbl="node1" presStyleIdx="4" presStyleCnt="5">
        <dgm:presLayoutVars>
          <dgm:bulletEnabled val="1"/>
        </dgm:presLayoutVars>
      </dgm:prSet>
      <dgm:spPr/>
    </dgm:pt>
  </dgm:ptLst>
  <dgm:cxnLst>
    <dgm:cxn modelId="{975A4118-02BB-4E59-9BD6-9AE22567CB6B}" srcId="{78B5EA03-5299-44DB-8D00-339D80F0965A}" destId="{79E353B2-BC93-409A-8417-1F8044FB7EAA}" srcOrd="0" destOrd="0" parTransId="{70618AD7-9B39-4915-BE87-2BB478ABAD80}" sibTransId="{DF1DB223-FE42-4B88-88EE-90B767ADAA7F}"/>
    <dgm:cxn modelId="{2738861E-61E9-418A-992B-FB11F8288C1C}" srcId="{78B5EA03-5299-44DB-8D00-339D80F0965A}" destId="{028EBCF3-C00F-4C48-8CC1-D4CA9D02F210}" srcOrd="2" destOrd="0" parTransId="{B4C62E27-BAE2-4411-84DF-5B426673C4E8}" sibTransId="{855E8E45-3FA9-41FB-9A1D-0E0DADC2AE36}"/>
    <dgm:cxn modelId="{4AEF2268-CEAA-4881-83CE-F5AA91613C93}" type="presOf" srcId="{79E353B2-BC93-409A-8417-1F8044FB7EAA}" destId="{BCE03493-683F-4E14-BDF1-E0DE6A716F5F}" srcOrd="0" destOrd="0" presId="urn:microsoft.com/office/officeart/2005/8/layout/default"/>
    <dgm:cxn modelId="{2059D76B-BF95-4A50-A623-210481529909}" srcId="{78B5EA03-5299-44DB-8D00-339D80F0965A}" destId="{D5298DBE-1CDD-4DA3-9EF9-E39311B9F472}" srcOrd="4" destOrd="0" parTransId="{5839A711-8615-4E15-8705-200A19C5533B}" sibTransId="{AD32CE0A-3C75-423A-827A-B016DCFDB768}"/>
    <dgm:cxn modelId="{1D0F0A77-4334-4AFB-BDC5-B25E79682531}" type="presOf" srcId="{D5298DBE-1CDD-4DA3-9EF9-E39311B9F472}" destId="{F1D133C7-6776-48F1-A231-0723F8AE5875}" srcOrd="0" destOrd="0" presId="urn:microsoft.com/office/officeart/2005/8/layout/default"/>
    <dgm:cxn modelId="{E4073978-F26E-4FCE-98B9-31D4504CBE08}" srcId="{78B5EA03-5299-44DB-8D00-339D80F0965A}" destId="{A76A2942-EE72-40C4-9172-5B3077B42836}" srcOrd="3" destOrd="0" parTransId="{E50BE205-61DD-4DD7-8394-8C83AEB15992}" sibTransId="{6B0F3A68-B1E2-4D95-A844-E262B5124CDF}"/>
    <dgm:cxn modelId="{194A187F-CCEE-4910-BF68-EDD0A5CAF799}" type="presOf" srcId="{A76A2942-EE72-40C4-9172-5B3077B42836}" destId="{15938D84-8CD4-4715-B5EE-6001B051DF32}" srcOrd="0" destOrd="0" presId="urn:microsoft.com/office/officeart/2005/8/layout/default"/>
    <dgm:cxn modelId="{58AD5298-0D9D-4ACA-8E6F-2A16E891CD4E}" type="presOf" srcId="{78B5EA03-5299-44DB-8D00-339D80F0965A}" destId="{AA7BFD78-D455-4770-B005-6C606F72C057}" srcOrd="0" destOrd="0" presId="urn:microsoft.com/office/officeart/2005/8/layout/default"/>
    <dgm:cxn modelId="{602446A3-3FB6-405D-A9E6-B388612D48D1}" srcId="{78B5EA03-5299-44DB-8D00-339D80F0965A}" destId="{5C671E88-D3DA-4078-BF8D-D4CF4AD6918D}" srcOrd="1" destOrd="0" parTransId="{C5F82245-9D4C-4F5D-9496-2166216B4BD9}" sibTransId="{8AA9C998-CD9E-4A98-A104-3CD58F8A1567}"/>
    <dgm:cxn modelId="{4A8E60DE-F2D9-4296-A870-9C5C1ACAE9BF}" type="presOf" srcId="{5C671E88-D3DA-4078-BF8D-D4CF4AD6918D}" destId="{33E4EF18-EB0C-4017-B45E-8B0EADBBFDE6}" srcOrd="0" destOrd="0" presId="urn:microsoft.com/office/officeart/2005/8/layout/default"/>
    <dgm:cxn modelId="{D5E7BFE6-A302-4BF5-9E8C-DE8461D35941}" type="presOf" srcId="{028EBCF3-C00F-4C48-8CC1-D4CA9D02F210}" destId="{BA48E8B5-09B7-4BE0-9199-FE27460F0B72}" srcOrd="0" destOrd="0" presId="urn:microsoft.com/office/officeart/2005/8/layout/default"/>
    <dgm:cxn modelId="{CE4EA9CB-0300-476C-B5D6-3961153E71FF}" type="presParOf" srcId="{AA7BFD78-D455-4770-B005-6C606F72C057}" destId="{BCE03493-683F-4E14-BDF1-E0DE6A716F5F}" srcOrd="0" destOrd="0" presId="urn:microsoft.com/office/officeart/2005/8/layout/default"/>
    <dgm:cxn modelId="{D9F9199F-B0EC-461B-8D71-06AB5836AF92}" type="presParOf" srcId="{AA7BFD78-D455-4770-B005-6C606F72C057}" destId="{0DAA6AFC-547A-4C50-B045-E2825B909504}" srcOrd="1" destOrd="0" presId="urn:microsoft.com/office/officeart/2005/8/layout/default"/>
    <dgm:cxn modelId="{2D2E2E26-1854-45E6-8C0B-CB512D444F85}" type="presParOf" srcId="{AA7BFD78-D455-4770-B005-6C606F72C057}" destId="{33E4EF18-EB0C-4017-B45E-8B0EADBBFDE6}" srcOrd="2" destOrd="0" presId="urn:microsoft.com/office/officeart/2005/8/layout/default"/>
    <dgm:cxn modelId="{5A328A95-28F4-4C5B-8562-3F7A51F02018}" type="presParOf" srcId="{AA7BFD78-D455-4770-B005-6C606F72C057}" destId="{697703C5-1637-4B48-A515-DF31F354C7F3}" srcOrd="3" destOrd="0" presId="urn:microsoft.com/office/officeart/2005/8/layout/default"/>
    <dgm:cxn modelId="{2531EFE8-20A5-4198-872C-198B1C1BF5B7}" type="presParOf" srcId="{AA7BFD78-D455-4770-B005-6C606F72C057}" destId="{BA48E8B5-09B7-4BE0-9199-FE27460F0B72}" srcOrd="4" destOrd="0" presId="urn:microsoft.com/office/officeart/2005/8/layout/default"/>
    <dgm:cxn modelId="{DD1D0BA3-F6FF-4B06-AD11-3AEB30539762}" type="presParOf" srcId="{AA7BFD78-D455-4770-B005-6C606F72C057}" destId="{C583E522-53DF-4D66-B0C3-3C9309623A72}" srcOrd="5" destOrd="0" presId="urn:microsoft.com/office/officeart/2005/8/layout/default"/>
    <dgm:cxn modelId="{7D432B4A-ACC5-4C63-B124-55E33E50D48E}" type="presParOf" srcId="{AA7BFD78-D455-4770-B005-6C606F72C057}" destId="{15938D84-8CD4-4715-B5EE-6001B051DF32}" srcOrd="6" destOrd="0" presId="urn:microsoft.com/office/officeart/2005/8/layout/default"/>
    <dgm:cxn modelId="{EAC21284-71FC-44E9-99E8-884E03F55D4B}" type="presParOf" srcId="{AA7BFD78-D455-4770-B005-6C606F72C057}" destId="{729511AF-80E4-4C52-AEE4-F7A6BC1687E4}" srcOrd="7" destOrd="0" presId="urn:microsoft.com/office/officeart/2005/8/layout/default"/>
    <dgm:cxn modelId="{0C1E7226-62ED-4181-9637-9BD25B563EB4}" type="presParOf" srcId="{AA7BFD78-D455-4770-B005-6C606F72C057}" destId="{F1D133C7-6776-48F1-A231-0723F8AE587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BE4827-3C14-46FC-8A0B-B3C10867569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6_4" csCatId="accent6"/>
      <dgm:spPr/>
      <dgm:t>
        <a:bodyPr/>
        <a:lstStyle/>
        <a:p>
          <a:endParaRPr lang="en-US"/>
        </a:p>
      </dgm:t>
    </dgm:pt>
    <dgm:pt modelId="{78718342-2731-47F6-B2DC-59F62796A546}">
      <dgm:prSet custT="1"/>
      <dgm:spPr/>
      <dgm:t>
        <a:bodyPr/>
        <a:lstStyle/>
        <a:p>
          <a:pPr algn="l"/>
          <a:r>
            <a:rPr lang="en-US" sz="1300" b="1" dirty="0"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Uneven Retail Execution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-Outlet execution varied significantly across the market, with noticeable differences in rack health, product visibility, and merchandising standards.</a:t>
          </a:r>
        </a:p>
      </dgm:t>
    </dgm:pt>
    <dgm:pt modelId="{A2096BBD-F28A-4DEE-8C71-B37EE2DCE8B3}" type="parTrans" cxnId="{45613C69-70AF-4639-AE2C-5DB0BA5015C2}">
      <dgm:prSet/>
      <dgm:spPr/>
      <dgm:t>
        <a:bodyPr/>
        <a:lstStyle/>
        <a:p>
          <a:endParaRPr lang="en-US"/>
        </a:p>
      </dgm:t>
    </dgm:pt>
    <dgm:pt modelId="{026D8832-5724-4285-96BC-1DB1E85CD8B1}" type="sibTrans" cxnId="{45613C69-70AF-4639-AE2C-5DB0BA5015C2}">
      <dgm:prSet/>
      <dgm:spPr/>
      <dgm:t>
        <a:bodyPr/>
        <a:lstStyle/>
        <a:p>
          <a:endParaRPr lang="en-US"/>
        </a:p>
      </dgm:t>
    </dgm:pt>
    <dgm:pt modelId="{08096DD3-2257-40D7-A49C-37B2890CCF96}">
      <dgm:prSet custT="1"/>
      <dgm:spPr/>
      <dgm:t>
        <a:bodyPr/>
        <a:lstStyle/>
        <a:p>
          <a:pPr algn="l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2. Hidden High-Potential 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Outlets-Several high-footfall outlets had the potential to generate higher sales but were constrained by limited assortment, inconsistent visibility, or stock availability.</a:t>
          </a:r>
        </a:p>
      </dgm:t>
    </dgm:pt>
    <dgm:pt modelId="{7774E552-0161-47D9-BAE5-3FE9CA4FD997}" type="parTrans" cxnId="{1C50C7B7-46C1-44F4-9855-985C4C405EC6}">
      <dgm:prSet/>
      <dgm:spPr/>
      <dgm:t>
        <a:bodyPr/>
        <a:lstStyle/>
        <a:p>
          <a:endParaRPr lang="en-US"/>
        </a:p>
      </dgm:t>
    </dgm:pt>
    <dgm:pt modelId="{51FAC026-E91E-4C1C-AD2F-3FE7C11755A5}" type="sibTrans" cxnId="{1C50C7B7-46C1-44F4-9855-985C4C405EC6}">
      <dgm:prSet/>
      <dgm:spPr/>
      <dgm:t>
        <a:bodyPr/>
        <a:lstStyle/>
        <a:p>
          <a:endParaRPr lang="en-US"/>
        </a:p>
      </dgm:t>
    </dgm:pt>
    <dgm:pt modelId="{F973B333-DFA2-4138-B296-57D2860D20CF}">
      <dgm:prSet custT="1"/>
      <dgm:spPr/>
      <dgm:t>
        <a:bodyPr/>
        <a:lstStyle/>
        <a:p>
          <a:pPr algn="l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3. Strong Competitive 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Presence-Competitor brands maintained better shelf visibility and promotional presence in many outlets, increasing the need for stronger execution by Bingo!.</a:t>
          </a:r>
        </a:p>
      </dgm:t>
    </dgm:pt>
    <dgm:pt modelId="{6894956E-E1A2-4E18-B0B0-005433BD7045}" type="parTrans" cxnId="{D3EE47A9-1CEB-4BFB-B4D8-C17082D7E5E4}">
      <dgm:prSet/>
      <dgm:spPr/>
      <dgm:t>
        <a:bodyPr/>
        <a:lstStyle/>
        <a:p>
          <a:endParaRPr lang="en-US"/>
        </a:p>
      </dgm:t>
    </dgm:pt>
    <dgm:pt modelId="{D5D89E97-2328-4B27-8EE1-6BABEB14BF1E}" type="sibTrans" cxnId="{D3EE47A9-1CEB-4BFB-B4D8-C17082D7E5E4}">
      <dgm:prSet/>
      <dgm:spPr/>
      <dgm:t>
        <a:bodyPr/>
        <a:lstStyle/>
        <a:p>
          <a:endParaRPr lang="en-US"/>
        </a:p>
      </dgm:t>
    </dgm:pt>
    <dgm:pt modelId="{5E6B44DD-D6AA-4DE1-87DD-8357F49C38F4}">
      <dgm:prSet custT="1"/>
      <dgm:spPr/>
      <dgm:t>
        <a:bodyPr/>
        <a:lstStyle/>
        <a:p>
          <a:pPr algn="l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4. Manual Outlet 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Assessment-Field observations were recorded manually, making it difficult to compare outlets systematically or prioritize them based on execution quality.</a:t>
          </a:r>
        </a:p>
      </dgm:t>
    </dgm:pt>
    <dgm:pt modelId="{18A275EF-0E2C-4CB6-AC1E-61399B9E2EDA}" type="parTrans" cxnId="{1C32D7FE-7B8A-4BB9-A2B5-90DACC919575}">
      <dgm:prSet/>
      <dgm:spPr/>
      <dgm:t>
        <a:bodyPr/>
        <a:lstStyle/>
        <a:p>
          <a:endParaRPr lang="en-US"/>
        </a:p>
      </dgm:t>
    </dgm:pt>
    <dgm:pt modelId="{3A180562-E016-4036-87F4-751E30714187}" type="sibTrans" cxnId="{1C32D7FE-7B8A-4BB9-A2B5-90DACC919575}">
      <dgm:prSet/>
      <dgm:spPr/>
      <dgm:t>
        <a:bodyPr/>
        <a:lstStyle/>
        <a:p>
          <a:endParaRPr lang="en-US"/>
        </a:p>
      </dgm:t>
    </dgm:pt>
    <dgm:pt modelId="{F2497C56-54B7-4AAE-B138-FF8A0F7398AA}">
      <dgm:prSet custT="1"/>
      <dgm:spPr/>
      <dgm:t>
        <a:bodyPr/>
        <a:lstStyle/>
        <a:p>
          <a:pPr algn="l"/>
          <a:r>
            <a:rPr lang="en-US" sz="1400" b="1" dirty="0"/>
            <a:t>5</a:t>
          </a:r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. Opportunity for Data-Driven 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Prioritization-A structured outlet-level database highlighted the potential to prioritize outlets using measurable execution parameters rather than relying solely on experience and routine market visits.</a:t>
          </a:r>
        </a:p>
      </dgm:t>
    </dgm:pt>
    <dgm:pt modelId="{157DEF73-F9A9-4A20-A9CD-47B5F0930738}" type="parTrans" cxnId="{E70A1D1B-4DD4-4353-BFA8-DA82E0F7959E}">
      <dgm:prSet/>
      <dgm:spPr/>
      <dgm:t>
        <a:bodyPr/>
        <a:lstStyle/>
        <a:p>
          <a:endParaRPr lang="en-US"/>
        </a:p>
      </dgm:t>
    </dgm:pt>
    <dgm:pt modelId="{01D049D6-A7A6-4AC5-91E6-4D199051F6A7}" type="sibTrans" cxnId="{E70A1D1B-4DD4-4353-BFA8-DA82E0F7959E}">
      <dgm:prSet/>
      <dgm:spPr/>
      <dgm:t>
        <a:bodyPr/>
        <a:lstStyle/>
        <a:p>
          <a:endParaRPr lang="en-US"/>
        </a:p>
      </dgm:t>
    </dgm:pt>
    <dgm:pt modelId="{F7DC0568-523E-4233-A335-F2E03E7B09B4}" type="pres">
      <dgm:prSet presAssocID="{78BE4827-3C14-46FC-8A0B-B3C108675690}" presName="Name0" presStyleCnt="0">
        <dgm:presLayoutVars>
          <dgm:dir/>
          <dgm:resizeHandles val="exact"/>
        </dgm:presLayoutVars>
      </dgm:prSet>
      <dgm:spPr/>
    </dgm:pt>
    <dgm:pt modelId="{BDE7F30A-E8EB-45E0-9414-37A4DB3D448B}" type="pres">
      <dgm:prSet presAssocID="{78718342-2731-47F6-B2DC-59F62796A546}" presName="node" presStyleLbl="node1" presStyleIdx="0" presStyleCnt="5">
        <dgm:presLayoutVars>
          <dgm:bulletEnabled val="1"/>
        </dgm:presLayoutVars>
      </dgm:prSet>
      <dgm:spPr/>
    </dgm:pt>
    <dgm:pt modelId="{1A36235F-C23B-4508-93AE-D25B278343BF}" type="pres">
      <dgm:prSet presAssocID="{026D8832-5724-4285-96BC-1DB1E85CD8B1}" presName="sibTrans" presStyleLbl="sibTrans1D1" presStyleIdx="0" presStyleCnt="4"/>
      <dgm:spPr/>
    </dgm:pt>
    <dgm:pt modelId="{0C8E454F-DAEE-4354-B634-78C8378FE6BE}" type="pres">
      <dgm:prSet presAssocID="{026D8832-5724-4285-96BC-1DB1E85CD8B1}" presName="connectorText" presStyleLbl="sibTrans1D1" presStyleIdx="0" presStyleCnt="4"/>
      <dgm:spPr/>
    </dgm:pt>
    <dgm:pt modelId="{088E494C-EFFD-4AA0-9897-F7F61C303464}" type="pres">
      <dgm:prSet presAssocID="{08096DD3-2257-40D7-A49C-37B2890CCF96}" presName="node" presStyleLbl="node1" presStyleIdx="1" presStyleCnt="5">
        <dgm:presLayoutVars>
          <dgm:bulletEnabled val="1"/>
        </dgm:presLayoutVars>
      </dgm:prSet>
      <dgm:spPr/>
    </dgm:pt>
    <dgm:pt modelId="{A31B807C-54ED-4E0A-9816-7F1CEE362622}" type="pres">
      <dgm:prSet presAssocID="{51FAC026-E91E-4C1C-AD2F-3FE7C11755A5}" presName="sibTrans" presStyleLbl="sibTrans1D1" presStyleIdx="1" presStyleCnt="4"/>
      <dgm:spPr/>
    </dgm:pt>
    <dgm:pt modelId="{506493C8-7757-4155-893C-54AAA10F9235}" type="pres">
      <dgm:prSet presAssocID="{51FAC026-E91E-4C1C-AD2F-3FE7C11755A5}" presName="connectorText" presStyleLbl="sibTrans1D1" presStyleIdx="1" presStyleCnt="4"/>
      <dgm:spPr/>
    </dgm:pt>
    <dgm:pt modelId="{166CDC11-DBCA-48CA-8A43-DE87124EF378}" type="pres">
      <dgm:prSet presAssocID="{F973B333-DFA2-4138-B296-57D2860D20CF}" presName="node" presStyleLbl="node1" presStyleIdx="2" presStyleCnt="5">
        <dgm:presLayoutVars>
          <dgm:bulletEnabled val="1"/>
        </dgm:presLayoutVars>
      </dgm:prSet>
      <dgm:spPr/>
    </dgm:pt>
    <dgm:pt modelId="{E4975961-1634-4993-B4B4-C075047D08BA}" type="pres">
      <dgm:prSet presAssocID="{D5D89E97-2328-4B27-8EE1-6BABEB14BF1E}" presName="sibTrans" presStyleLbl="sibTrans1D1" presStyleIdx="2" presStyleCnt="4"/>
      <dgm:spPr/>
    </dgm:pt>
    <dgm:pt modelId="{DE80CD6B-A124-4FCD-B061-BA74D7803C7B}" type="pres">
      <dgm:prSet presAssocID="{D5D89E97-2328-4B27-8EE1-6BABEB14BF1E}" presName="connectorText" presStyleLbl="sibTrans1D1" presStyleIdx="2" presStyleCnt="4"/>
      <dgm:spPr/>
    </dgm:pt>
    <dgm:pt modelId="{6CA8BCF8-68E4-4E28-ADAC-1C2DD876F056}" type="pres">
      <dgm:prSet presAssocID="{5E6B44DD-D6AA-4DE1-87DD-8357F49C38F4}" presName="node" presStyleLbl="node1" presStyleIdx="3" presStyleCnt="5">
        <dgm:presLayoutVars>
          <dgm:bulletEnabled val="1"/>
        </dgm:presLayoutVars>
      </dgm:prSet>
      <dgm:spPr/>
    </dgm:pt>
    <dgm:pt modelId="{00B3826D-FE11-440E-B651-C74488C2BE3C}" type="pres">
      <dgm:prSet presAssocID="{3A180562-E016-4036-87F4-751E30714187}" presName="sibTrans" presStyleLbl="sibTrans1D1" presStyleIdx="3" presStyleCnt="4"/>
      <dgm:spPr/>
    </dgm:pt>
    <dgm:pt modelId="{644B43DF-05A0-49E7-8D8A-2F903686ADD4}" type="pres">
      <dgm:prSet presAssocID="{3A180562-E016-4036-87F4-751E30714187}" presName="connectorText" presStyleLbl="sibTrans1D1" presStyleIdx="3" presStyleCnt="4"/>
      <dgm:spPr/>
    </dgm:pt>
    <dgm:pt modelId="{5CF25883-4B2F-41BA-8B41-72795F1A24B5}" type="pres">
      <dgm:prSet presAssocID="{F2497C56-54B7-4AAE-B138-FF8A0F7398AA}" presName="node" presStyleLbl="node1" presStyleIdx="4" presStyleCnt="5">
        <dgm:presLayoutVars>
          <dgm:bulletEnabled val="1"/>
        </dgm:presLayoutVars>
      </dgm:prSet>
      <dgm:spPr/>
    </dgm:pt>
  </dgm:ptLst>
  <dgm:cxnLst>
    <dgm:cxn modelId="{B3021E0B-D2C0-486B-AFFB-9EFD4D966633}" type="presOf" srcId="{D5D89E97-2328-4B27-8EE1-6BABEB14BF1E}" destId="{E4975961-1634-4993-B4B4-C075047D08BA}" srcOrd="0" destOrd="0" presId="urn:microsoft.com/office/officeart/2016/7/layout/RepeatingBendingProcessNew"/>
    <dgm:cxn modelId="{CF511310-B4F8-4F66-A9FC-223C6FCD2C00}" type="presOf" srcId="{3A180562-E016-4036-87F4-751E30714187}" destId="{644B43DF-05A0-49E7-8D8A-2F903686ADD4}" srcOrd="1" destOrd="0" presId="urn:microsoft.com/office/officeart/2016/7/layout/RepeatingBendingProcessNew"/>
    <dgm:cxn modelId="{19C15A15-B6DB-4554-9E8A-A3A5147133A7}" type="presOf" srcId="{D5D89E97-2328-4B27-8EE1-6BABEB14BF1E}" destId="{DE80CD6B-A124-4FCD-B061-BA74D7803C7B}" srcOrd="1" destOrd="0" presId="urn:microsoft.com/office/officeart/2016/7/layout/RepeatingBendingProcessNew"/>
    <dgm:cxn modelId="{E70A1D1B-4DD4-4353-BFA8-DA82E0F7959E}" srcId="{78BE4827-3C14-46FC-8A0B-B3C108675690}" destId="{F2497C56-54B7-4AAE-B138-FF8A0F7398AA}" srcOrd="4" destOrd="0" parTransId="{157DEF73-F9A9-4A20-A9CD-47B5F0930738}" sibTransId="{01D049D6-A7A6-4AC5-91E6-4D199051F6A7}"/>
    <dgm:cxn modelId="{752E6126-92A8-4A2A-9F17-EF5AA8C61061}" type="presOf" srcId="{78718342-2731-47F6-B2DC-59F62796A546}" destId="{BDE7F30A-E8EB-45E0-9414-37A4DB3D448B}" srcOrd="0" destOrd="0" presId="urn:microsoft.com/office/officeart/2016/7/layout/RepeatingBendingProcessNew"/>
    <dgm:cxn modelId="{7E3B5A2A-F7BA-4B9F-A47B-16F8327A8621}" type="presOf" srcId="{51FAC026-E91E-4C1C-AD2F-3FE7C11755A5}" destId="{A31B807C-54ED-4E0A-9816-7F1CEE362622}" srcOrd="0" destOrd="0" presId="urn:microsoft.com/office/officeart/2016/7/layout/RepeatingBendingProcessNew"/>
    <dgm:cxn modelId="{7937173B-7B23-4AFE-A2DC-29A96793622F}" type="presOf" srcId="{F2497C56-54B7-4AAE-B138-FF8A0F7398AA}" destId="{5CF25883-4B2F-41BA-8B41-72795F1A24B5}" srcOrd="0" destOrd="0" presId="urn:microsoft.com/office/officeart/2016/7/layout/RepeatingBendingProcessNew"/>
    <dgm:cxn modelId="{55BE0344-8632-42B2-B8C1-4B2DC333A3B0}" type="presOf" srcId="{026D8832-5724-4285-96BC-1DB1E85CD8B1}" destId="{0C8E454F-DAEE-4354-B634-78C8378FE6BE}" srcOrd="1" destOrd="0" presId="urn:microsoft.com/office/officeart/2016/7/layout/RepeatingBendingProcessNew"/>
    <dgm:cxn modelId="{45613C69-70AF-4639-AE2C-5DB0BA5015C2}" srcId="{78BE4827-3C14-46FC-8A0B-B3C108675690}" destId="{78718342-2731-47F6-B2DC-59F62796A546}" srcOrd="0" destOrd="0" parTransId="{A2096BBD-F28A-4DEE-8C71-B37EE2DCE8B3}" sibTransId="{026D8832-5724-4285-96BC-1DB1E85CD8B1}"/>
    <dgm:cxn modelId="{3928D170-679A-4666-85C5-954773442E6C}" type="presOf" srcId="{F973B333-DFA2-4138-B296-57D2860D20CF}" destId="{166CDC11-DBCA-48CA-8A43-DE87124EF378}" srcOrd="0" destOrd="0" presId="urn:microsoft.com/office/officeart/2016/7/layout/RepeatingBendingProcessNew"/>
    <dgm:cxn modelId="{460A5A71-F51A-472B-BB87-086B02FEA2AD}" type="presOf" srcId="{51FAC026-E91E-4C1C-AD2F-3FE7C11755A5}" destId="{506493C8-7757-4155-893C-54AAA10F9235}" srcOrd="1" destOrd="0" presId="urn:microsoft.com/office/officeart/2016/7/layout/RepeatingBendingProcessNew"/>
    <dgm:cxn modelId="{B089BD59-FF19-4B44-B533-6CBA8C1650AB}" type="presOf" srcId="{08096DD3-2257-40D7-A49C-37B2890CCF96}" destId="{088E494C-EFFD-4AA0-9897-F7F61C303464}" srcOrd="0" destOrd="0" presId="urn:microsoft.com/office/officeart/2016/7/layout/RepeatingBendingProcessNew"/>
    <dgm:cxn modelId="{A0CF93A7-9F45-4E2B-B6DC-A9DC783A3635}" type="presOf" srcId="{026D8832-5724-4285-96BC-1DB1E85CD8B1}" destId="{1A36235F-C23B-4508-93AE-D25B278343BF}" srcOrd="0" destOrd="0" presId="urn:microsoft.com/office/officeart/2016/7/layout/RepeatingBendingProcessNew"/>
    <dgm:cxn modelId="{D3EE47A9-1CEB-4BFB-B4D8-C17082D7E5E4}" srcId="{78BE4827-3C14-46FC-8A0B-B3C108675690}" destId="{F973B333-DFA2-4138-B296-57D2860D20CF}" srcOrd="2" destOrd="0" parTransId="{6894956E-E1A2-4E18-B0B0-005433BD7045}" sibTransId="{D5D89E97-2328-4B27-8EE1-6BABEB14BF1E}"/>
    <dgm:cxn modelId="{1C50C7B7-46C1-44F4-9855-985C4C405EC6}" srcId="{78BE4827-3C14-46FC-8A0B-B3C108675690}" destId="{08096DD3-2257-40D7-A49C-37B2890CCF96}" srcOrd="1" destOrd="0" parTransId="{7774E552-0161-47D9-BAE5-3FE9CA4FD997}" sibTransId="{51FAC026-E91E-4C1C-AD2F-3FE7C11755A5}"/>
    <dgm:cxn modelId="{CC0712DE-C5FA-460D-9AFC-34490B43B84A}" type="presOf" srcId="{78BE4827-3C14-46FC-8A0B-B3C108675690}" destId="{F7DC0568-523E-4233-A335-F2E03E7B09B4}" srcOrd="0" destOrd="0" presId="urn:microsoft.com/office/officeart/2016/7/layout/RepeatingBendingProcessNew"/>
    <dgm:cxn modelId="{F75C6DE5-79DF-45AA-94E4-BC57AD0A20B0}" type="presOf" srcId="{3A180562-E016-4036-87F4-751E30714187}" destId="{00B3826D-FE11-440E-B651-C74488C2BE3C}" srcOrd="0" destOrd="0" presId="urn:microsoft.com/office/officeart/2016/7/layout/RepeatingBendingProcessNew"/>
    <dgm:cxn modelId="{C43756E5-30F0-486B-A22A-347FC5C6CA22}" type="presOf" srcId="{5E6B44DD-D6AA-4DE1-87DD-8357F49C38F4}" destId="{6CA8BCF8-68E4-4E28-ADAC-1C2DD876F056}" srcOrd="0" destOrd="0" presId="urn:microsoft.com/office/officeart/2016/7/layout/RepeatingBendingProcessNew"/>
    <dgm:cxn modelId="{1C32D7FE-7B8A-4BB9-A2B5-90DACC919575}" srcId="{78BE4827-3C14-46FC-8A0B-B3C108675690}" destId="{5E6B44DD-D6AA-4DE1-87DD-8357F49C38F4}" srcOrd="3" destOrd="0" parTransId="{18A275EF-0E2C-4CB6-AC1E-61399B9E2EDA}" sibTransId="{3A180562-E016-4036-87F4-751E30714187}"/>
    <dgm:cxn modelId="{09D24EA5-2B72-4120-8CFF-F72143645F97}" type="presParOf" srcId="{F7DC0568-523E-4233-A335-F2E03E7B09B4}" destId="{BDE7F30A-E8EB-45E0-9414-37A4DB3D448B}" srcOrd="0" destOrd="0" presId="urn:microsoft.com/office/officeart/2016/7/layout/RepeatingBendingProcessNew"/>
    <dgm:cxn modelId="{8879918E-1DD2-4245-9949-E126E617F5AA}" type="presParOf" srcId="{F7DC0568-523E-4233-A335-F2E03E7B09B4}" destId="{1A36235F-C23B-4508-93AE-D25B278343BF}" srcOrd="1" destOrd="0" presId="urn:microsoft.com/office/officeart/2016/7/layout/RepeatingBendingProcessNew"/>
    <dgm:cxn modelId="{8E8591C7-550D-4FB6-BCAA-842BCBF279D5}" type="presParOf" srcId="{1A36235F-C23B-4508-93AE-D25B278343BF}" destId="{0C8E454F-DAEE-4354-B634-78C8378FE6BE}" srcOrd="0" destOrd="0" presId="urn:microsoft.com/office/officeart/2016/7/layout/RepeatingBendingProcessNew"/>
    <dgm:cxn modelId="{2D70EFE0-6199-4241-927E-EE7D76C902E1}" type="presParOf" srcId="{F7DC0568-523E-4233-A335-F2E03E7B09B4}" destId="{088E494C-EFFD-4AA0-9897-F7F61C303464}" srcOrd="2" destOrd="0" presId="urn:microsoft.com/office/officeart/2016/7/layout/RepeatingBendingProcessNew"/>
    <dgm:cxn modelId="{95A980FD-666A-4D6F-8F65-F39E37E2CC3E}" type="presParOf" srcId="{F7DC0568-523E-4233-A335-F2E03E7B09B4}" destId="{A31B807C-54ED-4E0A-9816-7F1CEE362622}" srcOrd="3" destOrd="0" presId="urn:microsoft.com/office/officeart/2016/7/layout/RepeatingBendingProcessNew"/>
    <dgm:cxn modelId="{E408C3EA-7379-4D18-961F-CEE806D9E5F2}" type="presParOf" srcId="{A31B807C-54ED-4E0A-9816-7F1CEE362622}" destId="{506493C8-7757-4155-893C-54AAA10F9235}" srcOrd="0" destOrd="0" presId="urn:microsoft.com/office/officeart/2016/7/layout/RepeatingBendingProcessNew"/>
    <dgm:cxn modelId="{EB9A4D19-4B35-4801-98FE-A437A84FDAEC}" type="presParOf" srcId="{F7DC0568-523E-4233-A335-F2E03E7B09B4}" destId="{166CDC11-DBCA-48CA-8A43-DE87124EF378}" srcOrd="4" destOrd="0" presId="urn:microsoft.com/office/officeart/2016/7/layout/RepeatingBendingProcessNew"/>
    <dgm:cxn modelId="{15A8C1DC-D4B2-43A5-90C7-295B7ED7EE80}" type="presParOf" srcId="{F7DC0568-523E-4233-A335-F2E03E7B09B4}" destId="{E4975961-1634-4993-B4B4-C075047D08BA}" srcOrd="5" destOrd="0" presId="urn:microsoft.com/office/officeart/2016/7/layout/RepeatingBendingProcessNew"/>
    <dgm:cxn modelId="{B6E51482-382B-47CD-AD21-813E5B96F9ED}" type="presParOf" srcId="{E4975961-1634-4993-B4B4-C075047D08BA}" destId="{DE80CD6B-A124-4FCD-B061-BA74D7803C7B}" srcOrd="0" destOrd="0" presId="urn:microsoft.com/office/officeart/2016/7/layout/RepeatingBendingProcessNew"/>
    <dgm:cxn modelId="{891068E4-57CE-4C3B-90B7-945B035A4FF9}" type="presParOf" srcId="{F7DC0568-523E-4233-A335-F2E03E7B09B4}" destId="{6CA8BCF8-68E4-4E28-ADAC-1C2DD876F056}" srcOrd="6" destOrd="0" presId="urn:microsoft.com/office/officeart/2016/7/layout/RepeatingBendingProcessNew"/>
    <dgm:cxn modelId="{7208CE1B-92CC-433A-BBB9-24BD927C3A2F}" type="presParOf" srcId="{F7DC0568-523E-4233-A335-F2E03E7B09B4}" destId="{00B3826D-FE11-440E-B651-C74488C2BE3C}" srcOrd="7" destOrd="0" presId="urn:microsoft.com/office/officeart/2016/7/layout/RepeatingBendingProcessNew"/>
    <dgm:cxn modelId="{654EFF64-2C63-404A-A878-28C8989358B8}" type="presParOf" srcId="{00B3826D-FE11-440E-B651-C74488C2BE3C}" destId="{644B43DF-05A0-49E7-8D8A-2F903686ADD4}" srcOrd="0" destOrd="0" presId="urn:microsoft.com/office/officeart/2016/7/layout/RepeatingBendingProcessNew"/>
    <dgm:cxn modelId="{A4989090-7B32-492C-8522-5EA7BE864A2B}" type="presParOf" srcId="{F7DC0568-523E-4233-A335-F2E03E7B09B4}" destId="{5CF25883-4B2F-41BA-8B41-72795F1A24B5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BE4827-3C14-46FC-8A0B-B3C108675690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78718342-2731-47F6-B2DC-59F62796A546}">
      <dgm:prSet custT="1"/>
      <dgm:spPr/>
      <dgm:t>
        <a:bodyPr/>
        <a:lstStyle/>
        <a:p>
          <a:pPr algn="l" rtl="0"/>
          <a:r>
            <a:rPr lang="en-US" sz="1500" b="1" dirty="0">
              <a:latin typeface="Times New Roman"/>
              <a:cs typeface="Times New Roman"/>
            </a:rPr>
            <a:t>1. Prioritize Outlets Using an Execution Score</a:t>
          </a:r>
          <a:r>
            <a:rPr lang="en-US" sz="1500" b="0" dirty="0">
              <a:latin typeface="Times New Roman"/>
              <a:cs typeface="Times New Roman"/>
            </a:rPr>
            <a:t> - Instead of servicing all outlets uniformly, classify outlets using execution parameters such as visibility, assortment, rack health, stock availability, and footfall to identify high-potential outlets requiring immediate attention.</a:t>
          </a:r>
        </a:p>
      </dgm:t>
    </dgm:pt>
    <dgm:pt modelId="{A2096BBD-F28A-4DEE-8C71-B37EE2DCE8B3}" type="parTrans" cxnId="{45613C69-70AF-4639-AE2C-5DB0BA5015C2}">
      <dgm:prSet/>
      <dgm:spPr/>
      <dgm:t>
        <a:bodyPr/>
        <a:lstStyle/>
        <a:p>
          <a:endParaRPr lang="en-US"/>
        </a:p>
      </dgm:t>
    </dgm:pt>
    <dgm:pt modelId="{026D8832-5724-4285-96BC-1DB1E85CD8B1}" type="sibTrans" cxnId="{45613C69-70AF-4639-AE2C-5DB0BA5015C2}">
      <dgm:prSet phldrT="1"/>
      <dgm:spPr/>
      <dgm:t>
        <a:bodyPr/>
        <a:lstStyle/>
        <a:p>
          <a:r>
            <a:rPr lang="en-US" dirty="0"/>
            <a:t>1</a:t>
          </a:r>
        </a:p>
      </dgm:t>
    </dgm:pt>
    <dgm:pt modelId="{F973B333-DFA2-4138-B296-57D2860D20CF}">
      <dgm:prSet custT="1"/>
      <dgm:spPr/>
      <dgm:t>
        <a:bodyPr/>
        <a:lstStyle/>
        <a:p>
          <a:pPr algn="l" rtl="0"/>
          <a:r>
            <a:rPr lang="en-US" sz="1500" b="1" dirty="0">
              <a:latin typeface="Times New Roman"/>
              <a:cs typeface="Times New Roman"/>
            </a:rPr>
            <a:t>3. Align Assortment with Outlet Demand</a:t>
          </a:r>
          <a:r>
            <a:rPr lang="en-US" sz="1500" dirty="0">
              <a:latin typeface="Times New Roman"/>
              <a:cs typeface="Times New Roman"/>
            </a:rPr>
            <a:t> - Customize SKU availability based on outlet type, consumer movement, and purchasing patterns instead of maintaining a uniform assortment across all retail outlets.</a:t>
          </a:r>
        </a:p>
      </dgm:t>
    </dgm:pt>
    <dgm:pt modelId="{6894956E-E1A2-4E18-B0B0-005433BD7045}" type="parTrans" cxnId="{D3EE47A9-1CEB-4BFB-B4D8-C17082D7E5E4}">
      <dgm:prSet/>
      <dgm:spPr/>
      <dgm:t>
        <a:bodyPr/>
        <a:lstStyle/>
        <a:p>
          <a:endParaRPr lang="en-US"/>
        </a:p>
      </dgm:t>
    </dgm:pt>
    <dgm:pt modelId="{D5D89E97-2328-4B27-8EE1-6BABEB14BF1E}" type="sibTrans" cxnId="{D3EE47A9-1CEB-4BFB-B4D8-C17082D7E5E4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5E6B44DD-D6AA-4DE1-87DD-8357F49C38F4}">
      <dgm:prSet custT="1"/>
      <dgm:spPr/>
      <dgm:t>
        <a:bodyPr/>
        <a:lstStyle/>
        <a:p>
          <a:pPr algn="l" rtl="0"/>
          <a:r>
            <a:rPr lang="en-US" sz="1500" b="1" dirty="0">
              <a:latin typeface="Times New Roman"/>
              <a:cs typeface="Times New Roman"/>
            </a:rPr>
            <a:t>4. Digitize Field Observation - </a:t>
          </a:r>
          <a:r>
            <a:rPr lang="en-US" sz="1500" dirty="0">
              <a:latin typeface="Times New Roman"/>
              <a:cs typeface="Times New Roman"/>
            </a:rPr>
            <a:t>Replace informal observations with a structured digital outlet assessment system to enable faster analysis, consistent reporting, and evidence-based decision-making by field teams.</a:t>
          </a:r>
        </a:p>
      </dgm:t>
    </dgm:pt>
    <dgm:pt modelId="{18A275EF-0E2C-4CB6-AC1E-61399B9E2EDA}" type="parTrans" cxnId="{1C32D7FE-7B8A-4BB9-A2B5-90DACC919575}">
      <dgm:prSet/>
      <dgm:spPr/>
      <dgm:t>
        <a:bodyPr/>
        <a:lstStyle/>
        <a:p>
          <a:endParaRPr lang="en-US"/>
        </a:p>
      </dgm:t>
    </dgm:pt>
    <dgm:pt modelId="{3A180562-E016-4036-87F4-751E30714187}" type="sibTrans" cxnId="{1C32D7FE-7B8A-4BB9-A2B5-90DACC919575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F2497C56-54B7-4AAE-B138-FF8A0F7398AA}">
      <dgm:prSet custT="1"/>
      <dgm:spPr/>
      <dgm:t>
        <a:bodyPr/>
        <a:lstStyle/>
        <a:p>
          <a:pPr algn="l" rtl="0"/>
          <a:r>
            <a:rPr lang="en-US" sz="1500" b="1">
              <a:latin typeface="Times New Roman"/>
              <a:cs typeface="Times New Roman"/>
            </a:rPr>
            <a:t>5. Convert Competitor Observations into Actionable Intelligence - </a:t>
          </a:r>
          <a:r>
            <a:rPr lang="en-US" sz="1500" b="0">
              <a:latin typeface="Times New Roman"/>
              <a:cs typeface="Times New Roman"/>
            </a:rPr>
            <a:t>Standardize the capture of competitor visibility, promotions, and merchandising practices during market visits to support quicker execution decisions and improve competitive response.</a:t>
          </a:r>
        </a:p>
      </dgm:t>
    </dgm:pt>
    <dgm:pt modelId="{157DEF73-F9A9-4A20-A9CD-47B5F0930738}" type="parTrans" cxnId="{E70A1D1B-4DD4-4353-BFA8-DA82E0F7959E}">
      <dgm:prSet/>
      <dgm:spPr/>
      <dgm:t>
        <a:bodyPr/>
        <a:lstStyle/>
        <a:p>
          <a:endParaRPr lang="en-US"/>
        </a:p>
      </dgm:t>
    </dgm:pt>
    <dgm:pt modelId="{01D049D6-A7A6-4AC5-91E6-4D199051F6A7}" type="sibTrans" cxnId="{E70A1D1B-4DD4-4353-BFA8-DA82E0F7959E}">
      <dgm:prSet phldrT="5"/>
      <dgm:spPr/>
      <dgm:t>
        <a:bodyPr/>
        <a:lstStyle/>
        <a:p>
          <a:r>
            <a:rPr lang="en-US"/>
            <a:t>5</a:t>
          </a:r>
        </a:p>
      </dgm:t>
    </dgm:pt>
    <dgm:pt modelId="{39E41558-25CB-4EEE-AD36-F594299C8F6E}">
      <dgm:prSet phldrT="[Text]" phldr="0" custT="1"/>
      <dgm:spPr/>
      <dgm:t>
        <a:bodyPr/>
        <a:lstStyle/>
        <a:p>
          <a:pPr algn="l" rtl="0"/>
          <a:r>
            <a:rPr lang="en-US" sz="1500" b="1">
              <a:latin typeface="Times New Roman"/>
              <a:cs typeface="Times New Roman"/>
            </a:rPr>
            <a:t>2. Strengthen Rack Utilization, Not Just Rack Placement</a:t>
          </a:r>
          <a:r>
            <a:rPr lang="en-US" sz="1500">
              <a:latin typeface="Times New Roman"/>
              <a:cs typeface="Times New Roman"/>
            </a:rPr>
            <a:t> -Regularly audit Bingo! racks for maintenance, product fill rate, and visibility. A rack should be evaluated on execution quality rather than merely its presence inside the outlet.</a:t>
          </a:r>
        </a:p>
      </dgm:t>
    </dgm:pt>
    <dgm:pt modelId="{578C7B65-F6BE-4889-8081-94E7C7A9024C}" type="parTrans" cxnId="{13232AC4-E199-4887-AEDE-6FB223A5250C}">
      <dgm:prSet/>
      <dgm:spPr/>
      <dgm:t>
        <a:bodyPr/>
        <a:lstStyle/>
        <a:p>
          <a:endParaRPr lang="en-IN"/>
        </a:p>
      </dgm:t>
    </dgm:pt>
    <dgm:pt modelId="{095FB87B-D373-4A59-95F2-98F148402191}" type="sibTrans" cxnId="{13232AC4-E199-4887-AEDE-6FB223A5250C}">
      <dgm:prSet/>
      <dgm:spPr/>
      <dgm:t>
        <a:bodyPr/>
        <a:lstStyle/>
        <a:p>
          <a:endParaRPr lang="en-US"/>
        </a:p>
      </dgm:t>
    </dgm:pt>
    <dgm:pt modelId="{77CAE7C6-6F5A-4FE9-984F-EBBC3A5AC197}" type="pres">
      <dgm:prSet presAssocID="{78BE4827-3C14-46FC-8A0B-B3C108675690}" presName="linearFlow" presStyleCnt="0">
        <dgm:presLayoutVars>
          <dgm:dir/>
          <dgm:animLvl val="lvl"/>
          <dgm:resizeHandles val="exact"/>
        </dgm:presLayoutVars>
      </dgm:prSet>
      <dgm:spPr/>
    </dgm:pt>
    <dgm:pt modelId="{8A077BC2-9478-4FCF-BE88-8449BF7F8BE5}" type="pres">
      <dgm:prSet presAssocID="{78718342-2731-47F6-B2DC-59F62796A546}" presName="compositeNode" presStyleCnt="0"/>
      <dgm:spPr/>
    </dgm:pt>
    <dgm:pt modelId="{9422CD80-A1A6-4234-9658-93EF8C938E01}" type="pres">
      <dgm:prSet presAssocID="{78718342-2731-47F6-B2DC-59F62796A54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DE9B9B3-C12B-4757-A043-914C6A782FB5}" type="pres">
      <dgm:prSet presAssocID="{78718342-2731-47F6-B2DC-59F62796A546}" presName="parSh" presStyleCnt="0"/>
      <dgm:spPr/>
    </dgm:pt>
    <dgm:pt modelId="{FF7EA4D1-904B-4B61-AEC7-6D54E7C68D1D}" type="pres">
      <dgm:prSet presAssocID="{78718342-2731-47F6-B2DC-59F62796A546}" presName="lineNode" presStyleLbl="alignAccFollowNode1" presStyleIdx="0" presStyleCnt="15"/>
      <dgm:spPr/>
    </dgm:pt>
    <dgm:pt modelId="{5B25BA4B-B61C-49AF-9B20-E34C93536EDE}" type="pres">
      <dgm:prSet presAssocID="{78718342-2731-47F6-B2DC-59F62796A546}" presName="lineArrowNode" presStyleLbl="alignAccFollowNode1" presStyleIdx="1" presStyleCnt="15"/>
      <dgm:spPr/>
    </dgm:pt>
    <dgm:pt modelId="{DA3BC522-41CB-4A0E-A4D4-D2BE52193C3D}" type="pres">
      <dgm:prSet presAssocID="{026D8832-5724-4285-96BC-1DB1E85CD8B1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8ADB6CA2-B73B-4268-93CC-0D7F57AAE029}" type="pres">
      <dgm:prSet presAssocID="{026D8832-5724-4285-96BC-1DB1E85CD8B1}" presName="spacerBetweenCircleAndCallout" presStyleCnt="0">
        <dgm:presLayoutVars/>
      </dgm:prSet>
      <dgm:spPr/>
    </dgm:pt>
    <dgm:pt modelId="{6C38AAD4-E2D6-46E1-9A69-31329C75B625}" type="pres">
      <dgm:prSet presAssocID="{78718342-2731-47F6-B2DC-59F62796A546}" presName="nodeText" presStyleLbl="alignAccFollowNode1" presStyleIdx="2" presStyleCnt="15">
        <dgm:presLayoutVars>
          <dgm:bulletEnabled val="1"/>
        </dgm:presLayoutVars>
      </dgm:prSet>
      <dgm:spPr/>
    </dgm:pt>
    <dgm:pt modelId="{A7CED23C-0458-4282-B6CA-70D11B3E1386}" type="pres">
      <dgm:prSet presAssocID="{026D8832-5724-4285-96BC-1DB1E85CD8B1}" presName="sibTransComposite" presStyleCnt="0"/>
      <dgm:spPr/>
    </dgm:pt>
    <dgm:pt modelId="{55ED5E5A-65C0-41E1-A112-8F38847DC1EA}" type="pres">
      <dgm:prSet presAssocID="{39E41558-25CB-4EEE-AD36-F594299C8F6E}" presName="compositeNode" presStyleCnt="0"/>
      <dgm:spPr/>
    </dgm:pt>
    <dgm:pt modelId="{4826DEE4-6321-4EAA-A4D9-6385A74DF3DA}" type="pres">
      <dgm:prSet presAssocID="{39E41558-25CB-4EEE-AD36-F594299C8F6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FED13E6-F766-489C-9989-BFE85075FE73}" type="pres">
      <dgm:prSet presAssocID="{39E41558-25CB-4EEE-AD36-F594299C8F6E}" presName="parSh" presStyleCnt="0"/>
      <dgm:spPr/>
    </dgm:pt>
    <dgm:pt modelId="{B5C1EB32-3E8C-49B8-BBB9-C261E6822B73}" type="pres">
      <dgm:prSet presAssocID="{39E41558-25CB-4EEE-AD36-F594299C8F6E}" presName="lineNode" presStyleLbl="alignAccFollowNode1" presStyleIdx="3" presStyleCnt="15"/>
      <dgm:spPr/>
    </dgm:pt>
    <dgm:pt modelId="{C5595953-9FE5-47AA-9C93-BF5E2C6B7F71}" type="pres">
      <dgm:prSet presAssocID="{39E41558-25CB-4EEE-AD36-F594299C8F6E}" presName="lineArrowNode" presStyleLbl="alignAccFollowNode1" presStyleIdx="4" presStyleCnt="15"/>
      <dgm:spPr/>
    </dgm:pt>
    <dgm:pt modelId="{963C5167-3A2D-413B-94D0-D1267C5DA18B}" type="pres">
      <dgm:prSet presAssocID="{095FB87B-D373-4A59-95F2-98F148402191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FC1FE8E0-A106-4D51-861F-76BC3EBF5A1B}" type="pres">
      <dgm:prSet presAssocID="{095FB87B-D373-4A59-95F2-98F148402191}" presName="spacerBetweenCircleAndCallout" presStyleCnt="0">
        <dgm:presLayoutVars/>
      </dgm:prSet>
      <dgm:spPr/>
    </dgm:pt>
    <dgm:pt modelId="{FDA7F225-F748-4BA5-B871-717188C3FAB6}" type="pres">
      <dgm:prSet presAssocID="{39E41558-25CB-4EEE-AD36-F594299C8F6E}" presName="nodeText" presStyleLbl="alignAccFollowNode1" presStyleIdx="5" presStyleCnt="15">
        <dgm:presLayoutVars>
          <dgm:bulletEnabled val="1"/>
        </dgm:presLayoutVars>
      </dgm:prSet>
      <dgm:spPr/>
    </dgm:pt>
    <dgm:pt modelId="{945EB7EA-649E-46BB-AC6E-097549A15293}" type="pres">
      <dgm:prSet presAssocID="{095FB87B-D373-4A59-95F2-98F148402191}" presName="sibTransComposite" presStyleCnt="0"/>
      <dgm:spPr/>
    </dgm:pt>
    <dgm:pt modelId="{8511BD9F-B9D6-43E7-92E7-180CEF299158}" type="pres">
      <dgm:prSet presAssocID="{F973B333-DFA2-4138-B296-57D2860D20CF}" presName="compositeNode" presStyleCnt="0"/>
      <dgm:spPr/>
    </dgm:pt>
    <dgm:pt modelId="{53533A8B-6F38-41FD-86C6-4825250773A3}" type="pres">
      <dgm:prSet presAssocID="{F973B333-DFA2-4138-B296-57D2860D20C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CA60511-3B66-4E99-9331-BA17C420E207}" type="pres">
      <dgm:prSet presAssocID="{F973B333-DFA2-4138-B296-57D2860D20CF}" presName="parSh" presStyleCnt="0"/>
      <dgm:spPr/>
    </dgm:pt>
    <dgm:pt modelId="{C483EAE7-0E82-4DF1-8F8B-66958A048844}" type="pres">
      <dgm:prSet presAssocID="{F973B333-DFA2-4138-B296-57D2860D20CF}" presName="lineNode" presStyleLbl="alignAccFollowNode1" presStyleIdx="6" presStyleCnt="15"/>
      <dgm:spPr/>
    </dgm:pt>
    <dgm:pt modelId="{DBD32ACE-89E1-448A-ABC1-FDCE593D6BBA}" type="pres">
      <dgm:prSet presAssocID="{F973B333-DFA2-4138-B296-57D2860D20CF}" presName="lineArrowNode" presStyleLbl="alignAccFollowNode1" presStyleIdx="7" presStyleCnt="15"/>
      <dgm:spPr/>
    </dgm:pt>
    <dgm:pt modelId="{715389E6-6797-4118-BB88-FC062AE9F151}" type="pres">
      <dgm:prSet presAssocID="{D5D89E97-2328-4B27-8EE1-6BABEB14BF1E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76EA215F-013A-4B5B-9555-70E500E981C7}" type="pres">
      <dgm:prSet presAssocID="{D5D89E97-2328-4B27-8EE1-6BABEB14BF1E}" presName="spacerBetweenCircleAndCallout" presStyleCnt="0">
        <dgm:presLayoutVars/>
      </dgm:prSet>
      <dgm:spPr/>
    </dgm:pt>
    <dgm:pt modelId="{58B1EC23-BF32-425A-ADD9-3C0414659457}" type="pres">
      <dgm:prSet presAssocID="{F973B333-DFA2-4138-B296-57D2860D20CF}" presName="nodeText" presStyleLbl="alignAccFollowNode1" presStyleIdx="8" presStyleCnt="15">
        <dgm:presLayoutVars>
          <dgm:bulletEnabled val="1"/>
        </dgm:presLayoutVars>
      </dgm:prSet>
      <dgm:spPr/>
    </dgm:pt>
    <dgm:pt modelId="{5DE81CF4-59CE-4A8C-AD77-410F9A7F5D4C}" type="pres">
      <dgm:prSet presAssocID="{D5D89E97-2328-4B27-8EE1-6BABEB14BF1E}" presName="sibTransComposite" presStyleCnt="0"/>
      <dgm:spPr/>
    </dgm:pt>
    <dgm:pt modelId="{DD16BA72-A70B-4DED-BB63-D3A7EB26F959}" type="pres">
      <dgm:prSet presAssocID="{5E6B44DD-D6AA-4DE1-87DD-8357F49C38F4}" presName="compositeNode" presStyleCnt="0"/>
      <dgm:spPr/>
    </dgm:pt>
    <dgm:pt modelId="{2293F8BE-6DBF-40DA-8362-299F7F6CA6C8}" type="pres">
      <dgm:prSet presAssocID="{5E6B44DD-D6AA-4DE1-87DD-8357F49C38F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E6D330B-F6E0-4C77-ADD9-D085A35254DB}" type="pres">
      <dgm:prSet presAssocID="{5E6B44DD-D6AA-4DE1-87DD-8357F49C38F4}" presName="parSh" presStyleCnt="0"/>
      <dgm:spPr/>
    </dgm:pt>
    <dgm:pt modelId="{97B0B10F-9CDD-48A4-895D-7D763010D7B1}" type="pres">
      <dgm:prSet presAssocID="{5E6B44DD-D6AA-4DE1-87DD-8357F49C38F4}" presName="lineNode" presStyleLbl="alignAccFollowNode1" presStyleIdx="9" presStyleCnt="15"/>
      <dgm:spPr/>
    </dgm:pt>
    <dgm:pt modelId="{7FAA9857-7A3D-41DA-9FBA-EAE2BC488517}" type="pres">
      <dgm:prSet presAssocID="{5E6B44DD-D6AA-4DE1-87DD-8357F49C38F4}" presName="lineArrowNode" presStyleLbl="alignAccFollowNode1" presStyleIdx="10" presStyleCnt="15"/>
      <dgm:spPr/>
    </dgm:pt>
    <dgm:pt modelId="{0F7FB954-CB29-4736-AE4B-FE43CC1CD5F6}" type="pres">
      <dgm:prSet presAssocID="{3A180562-E016-4036-87F4-751E30714187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61B74EC5-F52F-4036-9DF2-A9041663092A}" type="pres">
      <dgm:prSet presAssocID="{3A180562-E016-4036-87F4-751E30714187}" presName="spacerBetweenCircleAndCallout" presStyleCnt="0">
        <dgm:presLayoutVars/>
      </dgm:prSet>
      <dgm:spPr/>
    </dgm:pt>
    <dgm:pt modelId="{3466041F-00B5-4A44-9344-1FC05BD34C01}" type="pres">
      <dgm:prSet presAssocID="{5E6B44DD-D6AA-4DE1-87DD-8357F49C38F4}" presName="nodeText" presStyleLbl="alignAccFollowNode1" presStyleIdx="11" presStyleCnt="15">
        <dgm:presLayoutVars>
          <dgm:bulletEnabled val="1"/>
        </dgm:presLayoutVars>
      </dgm:prSet>
      <dgm:spPr/>
    </dgm:pt>
    <dgm:pt modelId="{427FA26B-01BF-4D2A-8B5A-67AAD8A11EFE}" type="pres">
      <dgm:prSet presAssocID="{3A180562-E016-4036-87F4-751E30714187}" presName="sibTransComposite" presStyleCnt="0"/>
      <dgm:spPr/>
    </dgm:pt>
    <dgm:pt modelId="{5E1CE5B6-E692-4991-979B-56D3B77D80AC}" type="pres">
      <dgm:prSet presAssocID="{F2497C56-54B7-4AAE-B138-FF8A0F7398AA}" presName="compositeNode" presStyleCnt="0"/>
      <dgm:spPr/>
    </dgm:pt>
    <dgm:pt modelId="{05798359-9334-41F1-8122-CA4B300FE633}" type="pres">
      <dgm:prSet presAssocID="{F2497C56-54B7-4AAE-B138-FF8A0F7398A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82AD2DE-A443-4B2E-BAB7-4CDBB482DC52}" type="pres">
      <dgm:prSet presAssocID="{F2497C56-54B7-4AAE-B138-FF8A0F7398AA}" presName="parSh" presStyleCnt="0"/>
      <dgm:spPr/>
    </dgm:pt>
    <dgm:pt modelId="{69F62CA3-3618-4C20-A065-E54E6B9C4AB0}" type="pres">
      <dgm:prSet presAssocID="{F2497C56-54B7-4AAE-B138-FF8A0F7398AA}" presName="lineNode" presStyleLbl="alignAccFollowNode1" presStyleIdx="12" presStyleCnt="15"/>
      <dgm:spPr/>
    </dgm:pt>
    <dgm:pt modelId="{ED337D6F-E6B7-4680-9A4B-371313BFE9E3}" type="pres">
      <dgm:prSet presAssocID="{F2497C56-54B7-4AAE-B138-FF8A0F7398AA}" presName="lineArrowNode" presStyleLbl="alignAccFollowNode1" presStyleIdx="13" presStyleCnt="15"/>
      <dgm:spPr/>
    </dgm:pt>
    <dgm:pt modelId="{021B524A-0B0F-4988-9607-3076EBE2CC2F}" type="pres">
      <dgm:prSet presAssocID="{01D049D6-A7A6-4AC5-91E6-4D199051F6A7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9F8C6625-D7AC-4944-A2D1-2DA8D833BC11}" type="pres">
      <dgm:prSet presAssocID="{01D049D6-A7A6-4AC5-91E6-4D199051F6A7}" presName="spacerBetweenCircleAndCallout" presStyleCnt="0">
        <dgm:presLayoutVars/>
      </dgm:prSet>
      <dgm:spPr/>
    </dgm:pt>
    <dgm:pt modelId="{D5DAE5BE-B6CE-4CD0-96C9-18E5B29EAA6F}" type="pres">
      <dgm:prSet presAssocID="{F2497C56-54B7-4AAE-B138-FF8A0F7398AA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BAC45406-0F10-4B58-A21B-7AAE17E0773C}" type="presOf" srcId="{D5D89E97-2328-4B27-8EE1-6BABEB14BF1E}" destId="{715389E6-6797-4118-BB88-FC062AE9F151}" srcOrd="0" destOrd="0" presId="urn:microsoft.com/office/officeart/2016/7/layout/LinearArrowProcessNumbered"/>
    <dgm:cxn modelId="{E70A1D1B-4DD4-4353-BFA8-DA82E0F7959E}" srcId="{78BE4827-3C14-46FC-8A0B-B3C108675690}" destId="{F2497C56-54B7-4AAE-B138-FF8A0F7398AA}" srcOrd="4" destOrd="0" parTransId="{157DEF73-F9A9-4A20-A9CD-47B5F0930738}" sibTransId="{01D049D6-A7A6-4AC5-91E6-4D199051F6A7}"/>
    <dgm:cxn modelId="{318B112D-35E2-42E7-AD11-ECECB9D3A556}" type="presOf" srcId="{F973B333-DFA2-4138-B296-57D2860D20CF}" destId="{58B1EC23-BF32-425A-ADD9-3C0414659457}" srcOrd="0" destOrd="0" presId="urn:microsoft.com/office/officeart/2016/7/layout/LinearArrowProcessNumbered"/>
    <dgm:cxn modelId="{56823732-2426-403B-AEAA-9AEC64E19D03}" type="presOf" srcId="{F2497C56-54B7-4AAE-B138-FF8A0F7398AA}" destId="{D5DAE5BE-B6CE-4CD0-96C9-18E5B29EAA6F}" srcOrd="0" destOrd="0" presId="urn:microsoft.com/office/officeart/2016/7/layout/LinearArrowProcessNumbered"/>
    <dgm:cxn modelId="{45613C69-70AF-4639-AE2C-5DB0BA5015C2}" srcId="{78BE4827-3C14-46FC-8A0B-B3C108675690}" destId="{78718342-2731-47F6-B2DC-59F62796A546}" srcOrd="0" destOrd="0" parTransId="{A2096BBD-F28A-4DEE-8C71-B37EE2DCE8B3}" sibTransId="{026D8832-5724-4285-96BC-1DB1E85CD8B1}"/>
    <dgm:cxn modelId="{BB571359-064D-4E9C-A8D5-AAE65811A95D}" type="presOf" srcId="{3A180562-E016-4036-87F4-751E30714187}" destId="{0F7FB954-CB29-4736-AE4B-FE43CC1CD5F6}" srcOrd="0" destOrd="0" presId="urn:microsoft.com/office/officeart/2016/7/layout/LinearArrowProcessNumbered"/>
    <dgm:cxn modelId="{00C5CC79-B187-4781-A385-15D80263A385}" type="presOf" srcId="{01D049D6-A7A6-4AC5-91E6-4D199051F6A7}" destId="{021B524A-0B0F-4988-9607-3076EBE2CC2F}" srcOrd="0" destOrd="0" presId="urn:microsoft.com/office/officeart/2016/7/layout/LinearArrowProcessNumbered"/>
    <dgm:cxn modelId="{0115717E-96D3-43AF-A8C4-C1AB219A0B7D}" type="presOf" srcId="{026D8832-5724-4285-96BC-1DB1E85CD8B1}" destId="{DA3BC522-41CB-4A0E-A4D4-D2BE52193C3D}" srcOrd="0" destOrd="0" presId="urn:microsoft.com/office/officeart/2016/7/layout/LinearArrowProcessNumbered"/>
    <dgm:cxn modelId="{D3EE47A9-1CEB-4BFB-B4D8-C17082D7E5E4}" srcId="{78BE4827-3C14-46FC-8A0B-B3C108675690}" destId="{F973B333-DFA2-4138-B296-57D2860D20CF}" srcOrd="2" destOrd="0" parTransId="{6894956E-E1A2-4E18-B0B0-005433BD7045}" sibTransId="{D5D89E97-2328-4B27-8EE1-6BABEB14BF1E}"/>
    <dgm:cxn modelId="{BF9541B0-216F-4DC8-BB6E-9DC5C64D7C63}" type="presOf" srcId="{78718342-2731-47F6-B2DC-59F62796A546}" destId="{6C38AAD4-E2D6-46E1-9A69-31329C75B625}" srcOrd="0" destOrd="0" presId="urn:microsoft.com/office/officeart/2016/7/layout/LinearArrowProcessNumbered"/>
    <dgm:cxn modelId="{13232AC4-E199-4887-AEDE-6FB223A5250C}" srcId="{78BE4827-3C14-46FC-8A0B-B3C108675690}" destId="{39E41558-25CB-4EEE-AD36-F594299C8F6E}" srcOrd="1" destOrd="0" parTransId="{578C7B65-F6BE-4889-8081-94E7C7A9024C}" sibTransId="{095FB87B-D373-4A59-95F2-98F148402191}"/>
    <dgm:cxn modelId="{CC57C1CE-74B6-45C7-89D4-E508C845468D}" type="presOf" srcId="{5E6B44DD-D6AA-4DE1-87DD-8357F49C38F4}" destId="{3466041F-00B5-4A44-9344-1FC05BD34C01}" srcOrd="0" destOrd="0" presId="urn:microsoft.com/office/officeart/2016/7/layout/LinearArrowProcessNumbered"/>
    <dgm:cxn modelId="{25F549DD-CFA3-4A9C-8B31-8CF63FB8E238}" type="presOf" srcId="{78BE4827-3C14-46FC-8A0B-B3C108675690}" destId="{77CAE7C6-6F5A-4FE9-984F-EBBC3A5AC197}" srcOrd="0" destOrd="0" presId="urn:microsoft.com/office/officeart/2016/7/layout/LinearArrowProcessNumbered"/>
    <dgm:cxn modelId="{E5645CE1-2862-498B-8023-B23E7F3FE1A0}" type="presOf" srcId="{095FB87B-D373-4A59-95F2-98F148402191}" destId="{963C5167-3A2D-413B-94D0-D1267C5DA18B}" srcOrd="0" destOrd="0" presId="urn:microsoft.com/office/officeart/2016/7/layout/LinearArrowProcessNumbered"/>
    <dgm:cxn modelId="{45B0CEFE-A34D-475C-BBBD-C6DF06ECBC9C}" type="presOf" srcId="{39E41558-25CB-4EEE-AD36-F594299C8F6E}" destId="{FDA7F225-F748-4BA5-B871-717188C3FAB6}" srcOrd="0" destOrd="0" presId="urn:microsoft.com/office/officeart/2016/7/layout/LinearArrowProcessNumbered"/>
    <dgm:cxn modelId="{1C32D7FE-7B8A-4BB9-A2B5-90DACC919575}" srcId="{78BE4827-3C14-46FC-8A0B-B3C108675690}" destId="{5E6B44DD-D6AA-4DE1-87DD-8357F49C38F4}" srcOrd="3" destOrd="0" parTransId="{18A275EF-0E2C-4CB6-AC1E-61399B9E2EDA}" sibTransId="{3A180562-E016-4036-87F4-751E30714187}"/>
    <dgm:cxn modelId="{4BEA2B41-2A17-4CB9-9CE2-19B6FBD2EA60}" type="presParOf" srcId="{77CAE7C6-6F5A-4FE9-984F-EBBC3A5AC197}" destId="{8A077BC2-9478-4FCF-BE88-8449BF7F8BE5}" srcOrd="0" destOrd="0" presId="urn:microsoft.com/office/officeart/2016/7/layout/LinearArrowProcessNumbered"/>
    <dgm:cxn modelId="{B2418B28-D278-4F15-9A98-52C8357AEF2E}" type="presParOf" srcId="{8A077BC2-9478-4FCF-BE88-8449BF7F8BE5}" destId="{9422CD80-A1A6-4234-9658-93EF8C938E01}" srcOrd="0" destOrd="0" presId="urn:microsoft.com/office/officeart/2016/7/layout/LinearArrowProcessNumbered"/>
    <dgm:cxn modelId="{2BE6B335-E909-47F1-9057-8B484D537905}" type="presParOf" srcId="{8A077BC2-9478-4FCF-BE88-8449BF7F8BE5}" destId="{3DE9B9B3-C12B-4757-A043-914C6A782FB5}" srcOrd="1" destOrd="0" presId="urn:microsoft.com/office/officeart/2016/7/layout/LinearArrowProcessNumbered"/>
    <dgm:cxn modelId="{1931F10D-F5E9-420B-BCAA-076FE0CA101C}" type="presParOf" srcId="{3DE9B9B3-C12B-4757-A043-914C6A782FB5}" destId="{FF7EA4D1-904B-4B61-AEC7-6D54E7C68D1D}" srcOrd="0" destOrd="0" presId="urn:microsoft.com/office/officeart/2016/7/layout/LinearArrowProcessNumbered"/>
    <dgm:cxn modelId="{9449FD5A-D0DB-4F02-ADDE-57B7CE6726B3}" type="presParOf" srcId="{3DE9B9B3-C12B-4757-A043-914C6A782FB5}" destId="{5B25BA4B-B61C-49AF-9B20-E34C93536EDE}" srcOrd="1" destOrd="0" presId="urn:microsoft.com/office/officeart/2016/7/layout/LinearArrowProcessNumbered"/>
    <dgm:cxn modelId="{C0BC62F9-D675-4DB0-BECE-6665989316A1}" type="presParOf" srcId="{3DE9B9B3-C12B-4757-A043-914C6A782FB5}" destId="{DA3BC522-41CB-4A0E-A4D4-D2BE52193C3D}" srcOrd="2" destOrd="0" presId="urn:microsoft.com/office/officeart/2016/7/layout/LinearArrowProcessNumbered"/>
    <dgm:cxn modelId="{6A913246-DC98-4F49-A7E3-DD63536B57B1}" type="presParOf" srcId="{3DE9B9B3-C12B-4757-A043-914C6A782FB5}" destId="{8ADB6CA2-B73B-4268-93CC-0D7F57AAE029}" srcOrd="3" destOrd="0" presId="urn:microsoft.com/office/officeart/2016/7/layout/LinearArrowProcessNumbered"/>
    <dgm:cxn modelId="{12D66FD2-5328-438E-B556-6750E730E51B}" type="presParOf" srcId="{8A077BC2-9478-4FCF-BE88-8449BF7F8BE5}" destId="{6C38AAD4-E2D6-46E1-9A69-31329C75B625}" srcOrd="2" destOrd="0" presId="urn:microsoft.com/office/officeart/2016/7/layout/LinearArrowProcessNumbered"/>
    <dgm:cxn modelId="{0FE164C2-DA4F-432A-BE9D-1F1B59B06F00}" type="presParOf" srcId="{77CAE7C6-6F5A-4FE9-984F-EBBC3A5AC197}" destId="{A7CED23C-0458-4282-B6CA-70D11B3E1386}" srcOrd="1" destOrd="0" presId="urn:microsoft.com/office/officeart/2016/7/layout/LinearArrowProcessNumbered"/>
    <dgm:cxn modelId="{A1E893B5-1E30-4EC6-AA1D-627AA0A8DC45}" type="presParOf" srcId="{77CAE7C6-6F5A-4FE9-984F-EBBC3A5AC197}" destId="{55ED5E5A-65C0-41E1-A112-8F38847DC1EA}" srcOrd="2" destOrd="0" presId="urn:microsoft.com/office/officeart/2016/7/layout/LinearArrowProcessNumbered"/>
    <dgm:cxn modelId="{6A7AB71A-AD64-4CE7-9443-DBFAC908A9A0}" type="presParOf" srcId="{55ED5E5A-65C0-41E1-A112-8F38847DC1EA}" destId="{4826DEE4-6321-4EAA-A4D9-6385A74DF3DA}" srcOrd="0" destOrd="0" presId="urn:microsoft.com/office/officeart/2016/7/layout/LinearArrowProcessNumbered"/>
    <dgm:cxn modelId="{3866DE6A-9282-419C-8041-71297F1199D3}" type="presParOf" srcId="{55ED5E5A-65C0-41E1-A112-8F38847DC1EA}" destId="{9FED13E6-F766-489C-9989-BFE85075FE73}" srcOrd="1" destOrd="0" presId="urn:microsoft.com/office/officeart/2016/7/layout/LinearArrowProcessNumbered"/>
    <dgm:cxn modelId="{4D815DB6-FCD6-4262-B3DB-C74055A93BA1}" type="presParOf" srcId="{9FED13E6-F766-489C-9989-BFE85075FE73}" destId="{B5C1EB32-3E8C-49B8-BBB9-C261E6822B73}" srcOrd="0" destOrd="0" presId="urn:microsoft.com/office/officeart/2016/7/layout/LinearArrowProcessNumbered"/>
    <dgm:cxn modelId="{ED8A49EF-15E5-40CB-BBFA-F4C557AB9514}" type="presParOf" srcId="{9FED13E6-F766-489C-9989-BFE85075FE73}" destId="{C5595953-9FE5-47AA-9C93-BF5E2C6B7F71}" srcOrd="1" destOrd="0" presId="urn:microsoft.com/office/officeart/2016/7/layout/LinearArrowProcessNumbered"/>
    <dgm:cxn modelId="{3B43B999-9880-4B0E-B544-7A9073AA275E}" type="presParOf" srcId="{9FED13E6-F766-489C-9989-BFE85075FE73}" destId="{963C5167-3A2D-413B-94D0-D1267C5DA18B}" srcOrd="2" destOrd="0" presId="urn:microsoft.com/office/officeart/2016/7/layout/LinearArrowProcessNumbered"/>
    <dgm:cxn modelId="{64B48D43-EC74-49D8-ACEC-30B55FC02628}" type="presParOf" srcId="{9FED13E6-F766-489C-9989-BFE85075FE73}" destId="{FC1FE8E0-A106-4D51-861F-76BC3EBF5A1B}" srcOrd="3" destOrd="0" presId="urn:microsoft.com/office/officeart/2016/7/layout/LinearArrowProcessNumbered"/>
    <dgm:cxn modelId="{E2D45840-2BAE-4323-A579-2D56A85341BB}" type="presParOf" srcId="{55ED5E5A-65C0-41E1-A112-8F38847DC1EA}" destId="{FDA7F225-F748-4BA5-B871-717188C3FAB6}" srcOrd="2" destOrd="0" presId="urn:microsoft.com/office/officeart/2016/7/layout/LinearArrowProcessNumbered"/>
    <dgm:cxn modelId="{AFAE9F2B-6446-4C62-B774-5B7C6D4862F7}" type="presParOf" srcId="{77CAE7C6-6F5A-4FE9-984F-EBBC3A5AC197}" destId="{945EB7EA-649E-46BB-AC6E-097549A15293}" srcOrd="3" destOrd="0" presId="urn:microsoft.com/office/officeart/2016/7/layout/LinearArrowProcessNumbered"/>
    <dgm:cxn modelId="{E0D82DB2-CAF1-483C-9784-76715F28905A}" type="presParOf" srcId="{77CAE7C6-6F5A-4FE9-984F-EBBC3A5AC197}" destId="{8511BD9F-B9D6-43E7-92E7-180CEF299158}" srcOrd="4" destOrd="0" presId="urn:microsoft.com/office/officeart/2016/7/layout/LinearArrowProcessNumbered"/>
    <dgm:cxn modelId="{E03FFAAE-A22D-4239-A9C0-861FDF38ED8D}" type="presParOf" srcId="{8511BD9F-B9D6-43E7-92E7-180CEF299158}" destId="{53533A8B-6F38-41FD-86C6-4825250773A3}" srcOrd="0" destOrd="0" presId="urn:microsoft.com/office/officeart/2016/7/layout/LinearArrowProcessNumbered"/>
    <dgm:cxn modelId="{509A8BB4-6D2E-4DA2-B170-A0ACC5E4B27B}" type="presParOf" srcId="{8511BD9F-B9D6-43E7-92E7-180CEF299158}" destId="{ECA60511-3B66-4E99-9331-BA17C420E207}" srcOrd="1" destOrd="0" presId="urn:microsoft.com/office/officeart/2016/7/layout/LinearArrowProcessNumbered"/>
    <dgm:cxn modelId="{ADE3F6B2-BDB8-4660-8A36-43B36FD38255}" type="presParOf" srcId="{ECA60511-3B66-4E99-9331-BA17C420E207}" destId="{C483EAE7-0E82-4DF1-8F8B-66958A048844}" srcOrd="0" destOrd="0" presId="urn:microsoft.com/office/officeart/2016/7/layout/LinearArrowProcessNumbered"/>
    <dgm:cxn modelId="{F8E2D84D-C2F6-48C9-9A1A-DF67E31AB8D4}" type="presParOf" srcId="{ECA60511-3B66-4E99-9331-BA17C420E207}" destId="{DBD32ACE-89E1-448A-ABC1-FDCE593D6BBA}" srcOrd="1" destOrd="0" presId="urn:microsoft.com/office/officeart/2016/7/layout/LinearArrowProcessNumbered"/>
    <dgm:cxn modelId="{5B8C3100-B6AB-437D-9F85-1F630B1213D1}" type="presParOf" srcId="{ECA60511-3B66-4E99-9331-BA17C420E207}" destId="{715389E6-6797-4118-BB88-FC062AE9F151}" srcOrd="2" destOrd="0" presId="urn:microsoft.com/office/officeart/2016/7/layout/LinearArrowProcessNumbered"/>
    <dgm:cxn modelId="{920C2E61-E2BE-43EE-BD5F-73F29C8DA142}" type="presParOf" srcId="{ECA60511-3B66-4E99-9331-BA17C420E207}" destId="{76EA215F-013A-4B5B-9555-70E500E981C7}" srcOrd="3" destOrd="0" presId="urn:microsoft.com/office/officeart/2016/7/layout/LinearArrowProcessNumbered"/>
    <dgm:cxn modelId="{48C47CB2-0B74-4611-BC20-19A500701423}" type="presParOf" srcId="{8511BD9F-B9D6-43E7-92E7-180CEF299158}" destId="{58B1EC23-BF32-425A-ADD9-3C0414659457}" srcOrd="2" destOrd="0" presId="urn:microsoft.com/office/officeart/2016/7/layout/LinearArrowProcessNumbered"/>
    <dgm:cxn modelId="{8C1EDF9E-56BF-4489-B921-0EB53F3E92EF}" type="presParOf" srcId="{77CAE7C6-6F5A-4FE9-984F-EBBC3A5AC197}" destId="{5DE81CF4-59CE-4A8C-AD77-410F9A7F5D4C}" srcOrd="5" destOrd="0" presId="urn:microsoft.com/office/officeart/2016/7/layout/LinearArrowProcessNumbered"/>
    <dgm:cxn modelId="{82C49A52-DEFF-467C-852E-C6008E8E76B7}" type="presParOf" srcId="{77CAE7C6-6F5A-4FE9-984F-EBBC3A5AC197}" destId="{DD16BA72-A70B-4DED-BB63-D3A7EB26F959}" srcOrd="6" destOrd="0" presId="urn:microsoft.com/office/officeart/2016/7/layout/LinearArrowProcessNumbered"/>
    <dgm:cxn modelId="{019881C9-FAC0-46B9-844B-7777DD95794B}" type="presParOf" srcId="{DD16BA72-A70B-4DED-BB63-D3A7EB26F959}" destId="{2293F8BE-6DBF-40DA-8362-299F7F6CA6C8}" srcOrd="0" destOrd="0" presId="urn:microsoft.com/office/officeart/2016/7/layout/LinearArrowProcessNumbered"/>
    <dgm:cxn modelId="{6CD29528-C629-46C9-803B-D18FD30D4ED7}" type="presParOf" srcId="{DD16BA72-A70B-4DED-BB63-D3A7EB26F959}" destId="{2E6D330B-F6E0-4C77-ADD9-D085A35254DB}" srcOrd="1" destOrd="0" presId="urn:microsoft.com/office/officeart/2016/7/layout/LinearArrowProcessNumbered"/>
    <dgm:cxn modelId="{C25FA6F3-A33F-47CC-A3E1-B963E7A425CA}" type="presParOf" srcId="{2E6D330B-F6E0-4C77-ADD9-D085A35254DB}" destId="{97B0B10F-9CDD-48A4-895D-7D763010D7B1}" srcOrd="0" destOrd="0" presId="urn:microsoft.com/office/officeart/2016/7/layout/LinearArrowProcessNumbered"/>
    <dgm:cxn modelId="{1DA752D8-E67D-4560-86EA-2422F39205AB}" type="presParOf" srcId="{2E6D330B-F6E0-4C77-ADD9-D085A35254DB}" destId="{7FAA9857-7A3D-41DA-9FBA-EAE2BC488517}" srcOrd="1" destOrd="0" presId="urn:microsoft.com/office/officeart/2016/7/layout/LinearArrowProcessNumbered"/>
    <dgm:cxn modelId="{69786694-9755-458C-8425-1221FFF246F0}" type="presParOf" srcId="{2E6D330B-F6E0-4C77-ADD9-D085A35254DB}" destId="{0F7FB954-CB29-4736-AE4B-FE43CC1CD5F6}" srcOrd="2" destOrd="0" presId="urn:microsoft.com/office/officeart/2016/7/layout/LinearArrowProcessNumbered"/>
    <dgm:cxn modelId="{B5B8EFA7-5ECF-4F1D-9E9F-822693E5FC3A}" type="presParOf" srcId="{2E6D330B-F6E0-4C77-ADD9-D085A35254DB}" destId="{61B74EC5-F52F-4036-9DF2-A9041663092A}" srcOrd="3" destOrd="0" presId="urn:microsoft.com/office/officeart/2016/7/layout/LinearArrowProcessNumbered"/>
    <dgm:cxn modelId="{3088DD3B-1D9E-40F6-8CDB-61E121FC7C77}" type="presParOf" srcId="{DD16BA72-A70B-4DED-BB63-D3A7EB26F959}" destId="{3466041F-00B5-4A44-9344-1FC05BD34C01}" srcOrd="2" destOrd="0" presId="urn:microsoft.com/office/officeart/2016/7/layout/LinearArrowProcessNumbered"/>
    <dgm:cxn modelId="{3D92FCDD-E567-4D69-9731-2CCD5E18D68F}" type="presParOf" srcId="{77CAE7C6-6F5A-4FE9-984F-EBBC3A5AC197}" destId="{427FA26B-01BF-4D2A-8B5A-67AAD8A11EFE}" srcOrd="7" destOrd="0" presId="urn:microsoft.com/office/officeart/2016/7/layout/LinearArrowProcessNumbered"/>
    <dgm:cxn modelId="{3478AD6C-A06F-4D71-9AE0-7D38D75952AC}" type="presParOf" srcId="{77CAE7C6-6F5A-4FE9-984F-EBBC3A5AC197}" destId="{5E1CE5B6-E692-4991-979B-56D3B77D80AC}" srcOrd="8" destOrd="0" presId="urn:microsoft.com/office/officeart/2016/7/layout/LinearArrowProcessNumbered"/>
    <dgm:cxn modelId="{30F52BB8-5EB1-40FF-AF16-6172FCBC03ED}" type="presParOf" srcId="{5E1CE5B6-E692-4991-979B-56D3B77D80AC}" destId="{05798359-9334-41F1-8122-CA4B300FE633}" srcOrd="0" destOrd="0" presId="urn:microsoft.com/office/officeart/2016/7/layout/LinearArrowProcessNumbered"/>
    <dgm:cxn modelId="{947A8032-D2C9-4CBB-A971-AFE5A05FC084}" type="presParOf" srcId="{5E1CE5B6-E692-4991-979B-56D3B77D80AC}" destId="{E82AD2DE-A443-4B2E-BAB7-4CDBB482DC52}" srcOrd="1" destOrd="0" presId="urn:microsoft.com/office/officeart/2016/7/layout/LinearArrowProcessNumbered"/>
    <dgm:cxn modelId="{7E064E50-0976-485B-BA88-47C3429B1D56}" type="presParOf" srcId="{E82AD2DE-A443-4B2E-BAB7-4CDBB482DC52}" destId="{69F62CA3-3618-4C20-A065-E54E6B9C4AB0}" srcOrd="0" destOrd="0" presId="urn:microsoft.com/office/officeart/2016/7/layout/LinearArrowProcessNumbered"/>
    <dgm:cxn modelId="{07D24664-3C62-4577-9D3F-83A31AB68F44}" type="presParOf" srcId="{E82AD2DE-A443-4B2E-BAB7-4CDBB482DC52}" destId="{ED337D6F-E6B7-4680-9A4B-371313BFE9E3}" srcOrd="1" destOrd="0" presId="urn:microsoft.com/office/officeart/2016/7/layout/LinearArrowProcessNumbered"/>
    <dgm:cxn modelId="{8F0C4182-C24F-49D0-994F-7F7555F7045F}" type="presParOf" srcId="{E82AD2DE-A443-4B2E-BAB7-4CDBB482DC52}" destId="{021B524A-0B0F-4988-9607-3076EBE2CC2F}" srcOrd="2" destOrd="0" presId="urn:microsoft.com/office/officeart/2016/7/layout/LinearArrowProcessNumbered"/>
    <dgm:cxn modelId="{7767FCE2-48F5-40DA-9221-6D5460819BBC}" type="presParOf" srcId="{E82AD2DE-A443-4B2E-BAB7-4CDBB482DC52}" destId="{9F8C6625-D7AC-4944-A2D1-2DA8D833BC11}" srcOrd="3" destOrd="0" presId="urn:microsoft.com/office/officeart/2016/7/layout/LinearArrowProcessNumbered"/>
    <dgm:cxn modelId="{6DFED350-88F8-47CA-947A-A64391EAD089}" type="presParOf" srcId="{5E1CE5B6-E692-4991-979B-56D3B77D80AC}" destId="{D5DAE5BE-B6CE-4CD0-96C9-18E5B29EAA6F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ADF74F-75EA-480D-AAD1-BD1E986E45D9}" type="doc">
      <dgm:prSet loTypeId="urn:microsoft.com/office/officeart/2005/8/layout/matrix3" loCatId="matrix" qsTypeId="urn:microsoft.com/office/officeart/2005/8/quickstyle/simple1" qsCatId="simple" csTypeId="urn:microsoft.com/office/officeart/2005/8/colors/accent6_4" csCatId="accent6"/>
      <dgm:spPr/>
      <dgm:t>
        <a:bodyPr/>
        <a:lstStyle/>
        <a:p>
          <a:endParaRPr lang="en-US"/>
        </a:p>
      </dgm:t>
    </dgm:pt>
    <dgm:pt modelId="{CB58B1A2-7165-44D4-B963-7B7388157BAF}">
      <dgm:prSet custT="1"/>
      <dgm:spPr/>
      <dgm:t>
        <a:bodyPr/>
        <a:lstStyle/>
        <a:p>
          <a:pPr rtl="0"/>
          <a:r>
            <a:rPr lang="en-US" sz="1900" b="1" i="0" baseline="0" dirty="0">
              <a:latin typeface="Times New Roman"/>
              <a:cs typeface="Times New Roman"/>
            </a:rPr>
            <a:t>Standardizes outlet data collection through a structured </a:t>
          </a:r>
          <a:r>
            <a:rPr lang="en-US" sz="1900" b="1" i="0" baseline="0">
              <a:latin typeface="Times New Roman"/>
              <a:cs typeface="Times New Roman"/>
            </a:rPr>
            <a:t>digital format</a:t>
          </a:r>
          <a:r>
            <a:rPr lang="en-US" sz="1900" b="1" i="0" baseline="0" dirty="0">
              <a:latin typeface="Times New Roman"/>
              <a:cs typeface="Times New Roman"/>
            </a:rPr>
            <a:t>. </a:t>
          </a:r>
          <a:r>
            <a:rPr lang="en-US" sz="1900" b="1" i="0" dirty="0">
              <a:latin typeface="Times New Roman"/>
              <a:cs typeface="Times New Roman"/>
            </a:rPr>
            <a:t>​</a:t>
          </a:r>
          <a:endParaRPr lang="en-US" sz="1900" b="1" dirty="0">
            <a:latin typeface="Times New Roman"/>
            <a:cs typeface="Times New Roman"/>
          </a:endParaRPr>
        </a:p>
      </dgm:t>
    </dgm:pt>
    <dgm:pt modelId="{14B5C87F-E8DF-407A-B9C0-17887CB186ED}" type="parTrans" cxnId="{ED773191-F4AF-4A5C-9D26-E4F018D2D605}">
      <dgm:prSet/>
      <dgm:spPr/>
      <dgm:t>
        <a:bodyPr/>
        <a:lstStyle/>
        <a:p>
          <a:endParaRPr lang="en-US"/>
        </a:p>
      </dgm:t>
    </dgm:pt>
    <dgm:pt modelId="{B3E28D93-A3A3-4C70-8E57-7363CFE443B7}" type="sibTrans" cxnId="{ED773191-F4AF-4A5C-9D26-E4F018D2D605}">
      <dgm:prSet/>
      <dgm:spPr/>
      <dgm:t>
        <a:bodyPr/>
        <a:lstStyle/>
        <a:p>
          <a:endParaRPr lang="en-US"/>
        </a:p>
      </dgm:t>
    </dgm:pt>
    <dgm:pt modelId="{72B92950-FE8F-4438-A653-40EB6CD03986}">
      <dgm:prSet custT="0"/>
      <dgm:spPr/>
      <dgm:t>
        <a:bodyPr/>
        <a:lstStyle/>
        <a:p>
          <a:pPr rtl="0"/>
          <a:r>
            <a:rPr lang="en-US" sz="1800" b="1" i="0" baseline="0" dirty="0">
              <a:latin typeface="Times New Roman"/>
              <a:cs typeface="Times New Roman"/>
            </a:rPr>
            <a:t>Evaluates outlets using execution parameters such as visibility, rack health, assortment, stock availability, footfall, and competitor presence. </a:t>
          </a:r>
          <a:r>
            <a:rPr lang="en-US" sz="1800" b="1" i="0" dirty="0">
              <a:latin typeface="Times New Roman"/>
              <a:cs typeface="Times New Roman"/>
            </a:rPr>
            <a:t>​</a:t>
          </a:r>
          <a:endParaRPr lang="en-US" sz="1800" b="1" dirty="0">
            <a:latin typeface="Times New Roman"/>
            <a:cs typeface="Times New Roman"/>
          </a:endParaRPr>
        </a:p>
      </dgm:t>
    </dgm:pt>
    <dgm:pt modelId="{F1517497-466A-4E16-8FCE-6094BD613EAA}" type="parTrans" cxnId="{D6492A56-3E5D-409C-879D-D5E26DAACBF1}">
      <dgm:prSet/>
      <dgm:spPr/>
      <dgm:t>
        <a:bodyPr/>
        <a:lstStyle/>
        <a:p>
          <a:endParaRPr lang="en-US"/>
        </a:p>
      </dgm:t>
    </dgm:pt>
    <dgm:pt modelId="{A5F4C392-F0D3-4FCE-86F5-8D8A464C720A}" type="sibTrans" cxnId="{D6492A56-3E5D-409C-879D-D5E26DAACBF1}">
      <dgm:prSet/>
      <dgm:spPr/>
      <dgm:t>
        <a:bodyPr/>
        <a:lstStyle/>
        <a:p>
          <a:endParaRPr lang="en-US"/>
        </a:p>
      </dgm:t>
    </dgm:pt>
    <dgm:pt modelId="{6C2D42B8-4E8B-42DB-9998-E1C966230AC7}">
      <dgm:prSet custT="1"/>
      <dgm:spPr/>
      <dgm:t>
        <a:bodyPr/>
        <a:lstStyle/>
        <a:p>
          <a:pPr rtl="0"/>
          <a:r>
            <a:rPr lang="en-US" sz="1900" b="1" i="0" baseline="0" dirty="0">
              <a:latin typeface="Times New Roman"/>
              <a:cs typeface="Times New Roman"/>
            </a:rPr>
            <a:t>Generates an outlet score to support data-driven prioritization </a:t>
          </a:r>
          <a:r>
            <a:rPr lang="en-US" sz="1900" b="1" i="0" baseline="0">
              <a:latin typeface="Times New Roman"/>
              <a:cs typeface="Times New Roman"/>
            </a:rPr>
            <a:t>of </a:t>
          </a:r>
          <a:r>
            <a:rPr lang="en-US" sz="1900" b="1" i="0" baseline="0" dirty="0">
              <a:latin typeface="Times New Roman"/>
              <a:cs typeface="Times New Roman"/>
            </a:rPr>
            <a:t>high-potential retail outlets. </a:t>
          </a:r>
          <a:r>
            <a:rPr lang="en-US" sz="1900" b="1" i="0" dirty="0">
              <a:latin typeface="Times New Roman"/>
              <a:cs typeface="Times New Roman"/>
            </a:rPr>
            <a:t>​</a:t>
          </a:r>
          <a:endParaRPr lang="en-US" sz="1900" b="1" dirty="0">
            <a:latin typeface="Times New Roman"/>
            <a:cs typeface="Times New Roman"/>
          </a:endParaRPr>
        </a:p>
      </dgm:t>
    </dgm:pt>
    <dgm:pt modelId="{B3E1B3A2-8F0B-47DD-932E-1AD60A2B85D3}" type="parTrans" cxnId="{457454F6-B1ED-473C-B627-D8C9BE0BEB26}">
      <dgm:prSet/>
      <dgm:spPr/>
      <dgm:t>
        <a:bodyPr/>
        <a:lstStyle/>
        <a:p>
          <a:endParaRPr lang="en-US"/>
        </a:p>
      </dgm:t>
    </dgm:pt>
    <dgm:pt modelId="{F5EDF481-B029-41C2-8537-C073A90007DF}" type="sibTrans" cxnId="{457454F6-B1ED-473C-B627-D8C9BE0BEB26}">
      <dgm:prSet/>
      <dgm:spPr/>
      <dgm:t>
        <a:bodyPr/>
        <a:lstStyle/>
        <a:p>
          <a:endParaRPr lang="en-US"/>
        </a:p>
      </dgm:t>
    </dgm:pt>
    <dgm:pt modelId="{D18F72DC-F8CA-4EA6-B1F1-48506E4FF16D}">
      <dgm:prSet custT="1"/>
      <dgm:spPr/>
      <dgm:t>
        <a:bodyPr/>
        <a:lstStyle/>
        <a:p>
          <a:pPr rtl="0"/>
          <a:r>
            <a:rPr lang="en-US" sz="1900" b="1" i="0" baseline="0" dirty="0">
              <a:latin typeface="Times New Roman"/>
              <a:cs typeface="Times New Roman"/>
            </a:rPr>
            <a:t>Creates structured outputs that can be integrated </a:t>
          </a:r>
          <a:r>
            <a:rPr lang="en-US" sz="1900" b="1" i="0" baseline="0">
              <a:latin typeface="Times New Roman"/>
              <a:cs typeface="Times New Roman"/>
            </a:rPr>
            <a:t>into dashboards</a:t>
          </a:r>
          <a:r>
            <a:rPr lang="en-US" sz="1900" b="1" i="0" baseline="0" dirty="0">
              <a:latin typeface="Times New Roman"/>
              <a:cs typeface="Times New Roman"/>
            </a:rPr>
            <a:t> for faster field-level decision-making. </a:t>
          </a:r>
          <a:r>
            <a:rPr lang="en-US" sz="1900" b="1" i="0" dirty="0">
              <a:latin typeface="Times New Roman"/>
              <a:cs typeface="Times New Roman"/>
            </a:rPr>
            <a:t>​</a:t>
          </a:r>
          <a:endParaRPr lang="en-US" sz="1900" b="1" dirty="0">
            <a:latin typeface="Times New Roman"/>
            <a:cs typeface="Times New Roman"/>
          </a:endParaRPr>
        </a:p>
      </dgm:t>
    </dgm:pt>
    <dgm:pt modelId="{43E979FA-53B5-4181-BDA4-4B606869F46E}" type="parTrans" cxnId="{DCEBC138-E14A-43E3-9433-A85893B85F2E}">
      <dgm:prSet/>
      <dgm:spPr/>
      <dgm:t>
        <a:bodyPr/>
        <a:lstStyle/>
        <a:p>
          <a:endParaRPr lang="en-US"/>
        </a:p>
      </dgm:t>
    </dgm:pt>
    <dgm:pt modelId="{08384AA7-1AA3-41E0-9C1A-46609BF8470E}" type="sibTrans" cxnId="{DCEBC138-E14A-43E3-9433-A85893B85F2E}">
      <dgm:prSet/>
      <dgm:spPr/>
      <dgm:t>
        <a:bodyPr/>
        <a:lstStyle/>
        <a:p>
          <a:endParaRPr lang="en-US"/>
        </a:p>
      </dgm:t>
    </dgm:pt>
    <dgm:pt modelId="{690525BB-8EC2-402F-AD1D-856D5CE36619}" type="pres">
      <dgm:prSet presAssocID="{C0ADF74F-75EA-480D-AAD1-BD1E986E45D9}" presName="matrix" presStyleCnt="0">
        <dgm:presLayoutVars>
          <dgm:chMax val="1"/>
          <dgm:dir/>
          <dgm:resizeHandles val="exact"/>
        </dgm:presLayoutVars>
      </dgm:prSet>
      <dgm:spPr/>
    </dgm:pt>
    <dgm:pt modelId="{6E072C9C-A309-4B63-A5FE-E6A7B04932AA}" type="pres">
      <dgm:prSet presAssocID="{C0ADF74F-75EA-480D-AAD1-BD1E986E45D9}" presName="diamond" presStyleLbl="bgShp" presStyleIdx="0" presStyleCnt="1"/>
      <dgm:spPr/>
    </dgm:pt>
    <dgm:pt modelId="{2746B7D2-3A75-4F36-8AF8-868AEDEF2F3F}" type="pres">
      <dgm:prSet presAssocID="{C0ADF74F-75EA-480D-AAD1-BD1E986E45D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D358A59-ED0D-47F9-89D0-1237131004ED}" type="pres">
      <dgm:prSet presAssocID="{C0ADF74F-75EA-480D-AAD1-BD1E986E45D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448A429-8261-4FE1-8DCC-F6C15CDAFBA6}" type="pres">
      <dgm:prSet presAssocID="{C0ADF74F-75EA-480D-AAD1-BD1E986E45D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8619E8A-D95D-4A34-8AF0-4A44F93FA4C9}" type="pres">
      <dgm:prSet presAssocID="{C0ADF74F-75EA-480D-AAD1-BD1E986E45D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CEBC138-E14A-43E3-9433-A85893B85F2E}" srcId="{C0ADF74F-75EA-480D-AAD1-BD1E986E45D9}" destId="{D18F72DC-F8CA-4EA6-B1F1-48506E4FF16D}" srcOrd="3" destOrd="0" parTransId="{43E979FA-53B5-4181-BDA4-4B606869F46E}" sibTransId="{08384AA7-1AA3-41E0-9C1A-46609BF8470E}"/>
    <dgm:cxn modelId="{08BB4145-2A91-453F-B99B-64B67AFAACC9}" type="presOf" srcId="{6C2D42B8-4E8B-42DB-9998-E1C966230AC7}" destId="{7448A429-8261-4FE1-8DCC-F6C15CDAFBA6}" srcOrd="0" destOrd="0" presId="urn:microsoft.com/office/officeart/2005/8/layout/matrix3"/>
    <dgm:cxn modelId="{5847D272-133F-4C24-A85B-7E71D2C4AB53}" type="presOf" srcId="{CB58B1A2-7165-44D4-B963-7B7388157BAF}" destId="{2746B7D2-3A75-4F36-8AF8-868AEDEF2F3F}" srcOrd="0" destOrd="0" presId="urn:microsoft.com/office/officeart/2005/8/layout/matrix3"/>
    <dgm:cxn modelId="{D6492A56-3E5D-409C-879D-D5E26DAACBF1}" srcId="{C0ADF74F-75EA-480D-AAD1-BD1E986E45D9}" destId="{72B92950-FE8F-4438-A653-40EB6CD03986}" srcOrd="1" destOrd="0" parTransId="{F1517497-466A-4E16-8FCE-6094BD613EAA}" sibTransId="{A5F4C392-F0D3-4FCE-86F5-8D8A464C720A}"/>
    <dgm:cxn modelId="{ED773191-F4AF-4A5C-9D26-E4F018D2D605}" srcId="{C0ADF74F-75EA-480D-AAD1-BD1E986E45D9}" destId="{CB58B1A2-7165-44D4-B963-7B7388157BAF}" srcOrd="0" destOrd="0" parTransId="{14B5C87F-E8DF-407A-B9C0-17887CB186ED}" sibTransId="{B3E28D93-A3A3-4C70-8E57-7363CFE443B7}"/>
    <dgm:cxn modelId="{457454F6-B1ED-473C-B627-D8C9BE0BEB26}" srcId="{C0ADF74F-75EA-480D-AAD1-BD1E986E45D9}" destId="{6C2D42B8-4E8B-42DB-9998-E1C966230AC7}" srcOrd="2" destOrd="0" parTransId="{B3E1B3A2-8F0B-47DD-932E-1AD60A2B85D3}" sibTransId="{F5EDF481-B029-41C2-8537-C073A90007DF}"/>
    <dgm:cxn modelId="{F54ED4F6-A26C-434C-8998-D2F924274B90}" type="presOf" srcId="{72B92950-FE8F-4438-A653-40EB6CD03986}" destId="{6D358A59-ED0D-47F9-89D0-1237131004ED}" srcOrd="0" destOrd="0" presId="urn:microsoft.com/office/officeart/2005/8/layout/matrix3"/>
    <dgm:cxn modelId="{14ED2CFB-2C3B-4E8E-9464-3D6714CD522D}" type="presOf" srcId="{D18F72DC-F8CA-4EA6-B1F1-48506E4FF16D}" destId="{48619E8A-D95D-4A34-8AF0-4A44F93FA4C9}" srcOrd="0" destOrd="0" presId="urn:microsoft.com/office/officeart/2005/8/layout/matrix3"/>
    <dgm:cxn modelId="{EEA70AFF-AD97-4AA0-ADFE-7C7F11C3CF0D}" type="presOf" srcId="{C0ADF74F-75EA-480D-AAD1-BD1E986E45D9}" destId="{690525BB-8EC2-402F-AD1D-856D5CE36619}" srcOrd="0" destOrd="0" presId="urn:microsoft.com/office/officeart/2005/8/layout/matrix3"/>
    <dgm:cxn modelId="{6F0663C5-C804-4E8F-BB37-8FCE86E61F24}" type="presParOf" srcId="{690525BB-8EC2-402F-AD1D-856D5CE36619}" destId="{6E072C9C-A309-4B63-A5FE-E6A7B04932AA}" srcOrd="0" destOrd="0" presId="urn:microsoft.com/office/officeart/2005/8/layout/matrix3"/>
    <dgm:cxn modelId="{CFB5A550-4F5E-4502-BE33-C34778122BDF}" type="presParOf" srcId="{690525BB-8EC2-402F-AD1D-856D5CE36619}" destId="{2746B7D2-3A75-4F36-8AF8-868AEDEF2F3F}" srcOrd="1" destOrd="0" presId="urn:microsoft.com/office/officeart/2005/8/layout/matrix3"/>
    <dgm:cxn modelId="{F59A5C7F-F240-4681-AD25-263C4480335F}" type="presParOf" srcId="{690525BB-8EC2-402F-AD1D-856D5CE36619}" destId="{6D358A59-ED0D-47F9-89D0-1237131004ED}" srcOrd="2" destOrd="0" presId="urn:microsoft.com/office/officeart/2005/8/layout/matrix3"/>
    <dgm:cxn modelId="{00E66EEE-271C-4E17-B689-5426DD98B8F2}" type="presParOf" srcId="{690525BB-8EC2-402F-AD1D-856D5CE36619}" destId="{7448A429-8261-4FE1-8DCC-F6C15CDAFBA6}" srcOrd="3" destOrd="0" presId="urn:microsoft.com/office/officeart/2005/8/layout/matrix3"/>
    <dgm:cxn modelId="{96A03486-6F01-4B24-9B09-8EDB52A01DCA}" type="presParOf" srcId="{690525BB-8EC2-402F-AD1D-856D5CE36619}" destId="{48619E8A-D95D-4A34-8AF0-4A44F93FA4C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0ADF74F-75EA-480D-AAD1-BD1E986E45D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CB58B1A2-7165-44D4-B963-7B7388157BAF}">
      <dgm:prSet custT="1"/>
      <dgm:spPr/>
      <dgm:t>
        <a:bodyPr/>
        <a:lstStyle/>
        <a:p>
          <a:pPr algn="l" rtl="0"/>
          <a:r>
            <a:rPr lang="en-US" sz="1600" b="1" i="0" baseline="0">
              <a:latin typeface="Times New Roman"/>
              <a:cs typeface="Times New Roman"/>
            </a:rPr>
            <a:t> INPUT - </a:t>
          </a:r>
          <a:br>
            <a:rPr lang="en-US" sz="1600" b="0" dirty="0">
              <a:latin typeface="Times New Roman"/>
              <a:cs typeface="Times New Roman"/>
            </a:rPr>
          </a:br>
          <a:r>
            <a:rPr lang="en-US" sz="1600" b="0">
              <a:latin typeface="Times New Roman"/>
              <a:cs typeface="Times New Roman"/>
            </a:rPr>
            <a:t>* Outlet observations collected from 54 retail outlets</a:t>
          </a:r>
          <a:r>
            <a:rPr lang="en-US" sz="1600" b="0" dirty="0">
              <a:latin typeface="Times New Roman"/>
              <a:cs typeface="Times New Roman"/>
            </a:rPr>
            <a:t> </a:t>
          </a:r>
          <a:br>
            <a:rPr lang="en-US" sz="1600" b="0" dirty="0">
              <a:latin typeface="Times New Roman"/>
              <a:cs typeface="Times New Roman"/>
            </a:rPr>
          </a:br>
          <a:r>
            <a:rPr lang="en-US" sz="1600" b="0">
              <a:latin typeface="Times New Roman"/>
              <a:cs typeface="Times New Roman"/>
            </a:rPr>
            <a:t>* Data captured across 7 retail execution parameters</a:t>
          </a:r>
          <a:endParaRPr lang="en-US" sz="1600" b="0" dirty="0">
            <a:latin typeface="Times New Roman"/>
            <a:cs typeface="Times New Roman"/>
          </a:endParaRPr>
        </a:p>
      </dgm:t>
    </dgm:pt>
    <dgm:pt modelId="{14B5C87F-E8DF-407A-B9C0-17887CB186ED}" type="parTrans" cxnId="{ED773191-F4AF-4A5C-9D26-E4F018D2D605}">
      <dgm:prSet/>
      <dgm:spPr/>
      <dgm:t>
        <a:bodyPr/>
        <a:lstStyle/>
        <a:p>
          <a:endParaRPr lang="en-US"/>
        </a:p>
      </dgm:t>
    </dgm:pt>
    <dgm:pt modelId="{B3E28D93-A3A3-4C70-8E57-7363CFE443B7}" type="sibTrans" cxnId="{ED773191-F4AF-4A5C-9D26-E4F018D2D605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72B92950-FE8F-4438-A653-40EB6CD03986}">
      <dgm:prSet custT="1"/>
      <dgm:spPr/>
      <dgm:t>
        <a:bodyPr/>
        <a:lstStyle/>
        <a:p>
          <a:pPr algn="l" rtl="0"/>
          <a:r>
            <a:rPr lang="en-US" b="1" i="0" baseline="0" dirty="0">
              <a:latin typeface="Times New Roman"/>
              <a:cs typeface="Times New Roman"/>
            </a:rPr>
            <a:t> </a:t>
          </a:r>
          <a:r>
            <a:rPr lang="en-US" sz="1400" b="1" i="0" baseline="0" dirty="0">
              <a:latin typeface="Times New Roman"/>
              <a:cs typeface="Times New Roman"/>
            </a:rPr>
            <a:t>AI </a:t>
          </a:r>
          <a:r>
            <a:rPr lang="en-US" sz="1400" b="1" i="0" baseline="0">
              <a:latin typeface="Times New Roman"/>
              <a:cs typeface="Times New Roman"/>
            </a:rPr>
            <a:t>PROCESSING - </a:t>
          </a:r>
          <a:br>
            <a:rPr lang="en-US" sz="1400" b="1" i="0" baseline="0" dirty="0">
              <a:latin typeface="Times New Roman"/>
              <a:cs typeface="Times New Roman"/>
            </a:rPr>
          </a:br>
          <a:r>
            <a:rPr lang="en-US" sz="1400" b="0" i="0" baseline="0">
              <a:latin typeface="Times New Roman"/>
              <a:cs typeface="Times New Roman"/>
            </a:rPr>
            <a:t>* Structured</a:t>
          </a:r>
          <a:r>
            <a:rPr lang="en-US" sz="1400" b="0" i="0" baseline="0" dirty="0">
              <a:latin typeface="Times New Roman"/>
              <a:cs typeface="Times New Roman"/>
            </a:rPr>
            <a:t> outlet database creation </a:t>
          </a:r>
          <a:br>
            <a:rPr lang="en-US" sz="1400" b="0" i="0" baseline="0" dirty="0">
              <a:latin typeface="Times New Roman"/>
              <a:cs typeface="Times New Roman"/>
            </a:rPr>
          </a:br>
          <a:r>
            <a:rPr lang="en-US" sz="1400" b="0" i="0" baseline="0" dirty="0">
              <a:latin typeface="Times New Roman"/>
              <a:cs typeface="Times New Roman"/>
            </a:rPr>
            <a:t>* Parameter-wise outlet evaluation </a:t>
          </a:r>
          <a:br>
            <a:rPr lang="en-US" sz="1400" b="0" i="0" baseline="0" dirty="0">
              <a:latin typeface="Times New Roman"/>
              <a:cs typeface="Times New Roman"/>
            </a:rPr>
          </a:br>
          <a:r>
            <a:rPr lang="en-US" sz="1400" b="0" i="0" baseline="0" dirty="0">
              <a:latin typeface="Times New Roman"/>
              <a:cs typeface="Times New Roman"/>
            </a:rPr>
            <a:t>* Automated outlet scoring </a:t>
          </a:r>
          <a:br>
            <a:rPr lang="en-US" sz="1400" b="0" i="0" baseline="0" dirty="0">
              <a:latin typeface="Times New Roman"/>
              <a:cs typeface="Times New Roman"/>
            </a:rPr>
          </a:br>
          <a:r>
            <a:rPr lang="en-US" sz="1400" b="0" i="0" baseline="0" dirty="0">
              <a:latin typeface="Times New Roman"/>
              <a:cs typeface="Times New Roman"/>
            </a:rPr>
            <a:t>* Potential outlet classification</a:t>
          </a:r>
        </a:p>
      </dgm:t>
    </dgm:pt>
    <dgm:pt modelId="{F1517497-466A-4E16-8FCE-6094BD613EAA}" type="parTrans" cxnId="{D6492A56-3E5D-409C-879D-D5E26DAACBF1}">
      <dgm:prSet/>
      <dgm:spPr/>
      <dgm:t>
        <a:bodyPr/>
        <a:lstStyle/>
        <a:p>
          <a:endParaRPr lang="en-US"/>
        </a:p>
      </dgm:t>
    </dgm:pt>
    <dgm:pt modelId="{A5F4C392-F0D3-4FCE-86F5-8D8A464C720A}" type="sibTrans" cxnId="{D6492A56-3E5D-409C-879D-D5E26DAACBF1}">
      <dgm:prSet phldrT="02"/>
      <dgm:spPr/>
      <dgm:t>
        <a:bodyPr/>
        <a:lstStyle/>
        <a:p>
          <a:r>
            <a:rPr lang="en-US" dirty="0"/>
            <a:t>02</a:t>
          </a:r>
        </a:p>
      </dgm:t>
    </dgm:pt>
    <dgm:pt modelId="{D18F72DC-F8CA-4EA6-B1F1-48506E4FF16D}">
      <dgm:prSet/>
      <dgm:spPr/>
      <dgm:t>
        <a:bodyPr/>
        <a:lstStyle/>
        <a:p>
          <a:pPr algn="l" rtl="0"/>
          <a:r>
            <a:rPr lang="en-US" b="1" i="0" baseline="0" dirty="0">
              <a:latin typeface="Times New Roman"/>
              <a:cs typeface="Times New Roman"/>
            </a:rPr>
            <a:t>TOOLS USED - </a:t>
          </a:r>
          <a:br>
            <a:rPr lang="en-US" b="1" i="0" baseline="0" dirty="0">
              <a:latin typeface="Times New Roman"/>
              <a:cs typeface="Times New Roman"/>
            </a:rPr>
          </a:br>
          <a:r>
            <a:rPr lang="en-US" b="1" i="0" baseline="0" dirty="0">
              <a:latin typeface="Times New Roman"/>
              <a:cs typeface="Times New Roman"/>
            </a:rPr>
            <a:t>* </a:t>
          </a:r>
          <a:r>
            <a:rPr lang="en-US" b="1" dirty="0">
              <a:latin typeface="Times New Roman"/>
              <a:cs typeface="Times New Roman"/>
            </a:rPr>
            <a:t>ChatGPT</a:t>
          </a:r>
          <a:r>
            <a:rPr lang="en-US" b="0" dirty="0">
              <a:latin typeface="Times New Roman"/>
              <a:cs typeface="Times New Roman"/>
            </a:rPr>
            <a:t> – AI-assisted solution design </a:t>
          </a:r>
          <a:br>
            <a:rPr lang="en-US" b="0" dirty="0">
              <a:latin typeface="Times New Roman"/>
              <a:cs typeface="Times New Roman"/>
            </a:rPr>
          </a:br>
          <a:r>
            <a:rPr lang="en-US" b="1" dirty="0">
              <a:latin typeface="Times New Roman"/>
              <a:cs typeface="Times New Roman"/>
            </a:rPr>
            <a:t>* Power BI</a:t>
          </a:r>
          <a:r>
            <a:rPr lang="en-US" b="0" dirty="0">
              <a:latin typeface="Times New Roman"/>
              <a:cs typeface="Times New Roman"/>
            </a:rPr>
            <a:t> – Dashboard visualization</a:t>
          </a:r>
          <a:endParaRPr lang="en-US" b="1" dirty="0">
            <a:latin typeface="Times New Roman"/>
            <a:cs typeface="Times New Roman"/>
          </a:endParaRPr>
        </a:p>
      </dgm:t>
    </dgm:pt>
    <dgm:pt modelId="{43E979FA-53B5-4181-BDA4-4B606869F46E}" type="parTrans" cxnId="{DCEBC138-E14A-43E3-9433-A85893B85F2E}">
      <dgm:prSet/>
      <dgm:spPr/>
      <dgm:t>
        <a:bodyPr/>
        <a:lstStyle/>
        <a:p>
          <a:endParaRPr lang="en-US"/>
        </a:p>
      </dgm:t>
    </dgm:pt>
    <dgm:pt modelId="{08384AA7-1AA3-41E0-9C1A-46609BF8470E}" type="sibTrans" cxnId="{DCEBC138-E14A-43E3-9433-A85893B85F2E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B5C91F03-3444-47A1-B7FB-499DEA7D2638}">
      <dgm:prSet phldrT="[Text]" phldr="0"/>
      <dgm:spPr/>
      <dgm:t>
        <a:bodyPr/>
        <a:lstStyle/>
        <a:p>
          <a:pPr algn="l" rtl="0"/>
          <a:r>
            <a:rPr lang="en-US" b="1" i="0" baseline="0">
              <a:latin typeface="Times New Roman"/>
              <a:cs typeface="Times New Roman"/>
            </a:rPr>
            <a:t>OUTPUT - </a:t>
          </a:r>
          <a:br>
            <a:rPr lang="en-US" b="1" i="0" baseline="0" dirty="0">
              <a:latin typeface="Times New Roman"/>
              <a:cs typeface="Times New Roman"/>
            </a:rPr>
          </a:br>
          <a:r>
            <a:rPr lang="en-US" b="0" i="0" baseline="0">
              <a:latin typeface="Avenir Next LT Pro"/>
            </a:rPr>
            <a:t>* </a:t>
          </a:r>
          <a:r>
            <a:rPr lang="en-US" b="0" i="0" baseline="0"/>
            <a:t>Total Outlet Score </a:t>
          </a:r>
          <a:br>
            <a:rPr lang="en-US" b="0" i="0" baseline="0" dirty="0">
              <a:latin typeface="Avenir Next LT Pro"/>
            </a:rPr>
          </a:br>
          <a:r>
            <a:rPr lang="en-US" b="0" i="0" baseline="0">
              <a:latin typeface="Avenir Next LT Pro"/>
            </a:rPr>
            <a:t>* </a:t>
          </a:r>
          <a:r>
            <a:rPr lang="en-US" b="0" i="0" baseline="0"/>
            <a:t>Potential Outlet Identification </a:t>
          </a:r>
          <a:r>
            <a:rPr lang="en-US" b="0" i="0" baseline="0">
              <a:latin typeface="Avenir Next LT Pro"/>
            </a:rPr>
            <a:t>* </a:t>
          </a:r>
          <a:r>
            <a:rPr lang="en-US" b="0" i="0" baseline="0"/>
            <a:t>Selection Reason </a:t>
          </a:r>
          <a:br>
            <a:rPr lang="en-US" b="0" i="0" baseline="0" dirty="0">
              <a:latin typeface="Avenir Next LT Pro"/>
            </a:rPr>
          </a:br>
          <a:r>
            <a:rPr lang="en-US" b="0" i="0" baseline="0">
              <a:latin typeface="Avenir Next LT Pro"/>
            </a:rPr>
            <a:t>* </a:t>
          </a:r>
          <a:r>
            <a:rPr lang="en-US" b="0" i="0" baseline="0"/>
            <a:t>Power BI Dashboard for outlet comparison</a:t>
          </a:r>
        </a:p>
      </dgm:t>
    </dgm:pt>
    <dgm:pt modelId="{CC00ED7D-F581-4B4D-AE1C-341CB6869165}" type="parTrans" cxnId="{E0147809-BA28-4B2D-82BF-C35F82CF7515}">
      <dgm:prSet/>
      <dgm:spPr/>
      <dgm:t>
        <a:bodyPr/>
        <a:lstStyle/>
        <a:p>
          <a:endParaRPr lang="en-IN"/>
        </a:p>
      </dgm:t>
    </dgm:pt>
    <dgm:pt modelId="{DFEC9305-C919-4A4D-A158-6E136642427B}" type="sibTrans" cxnId="{E0147809-BA28-4B2D-82BF-C35F82CF7515}">
      <dgm:prSet/>
      <dgm:spPr/>
      <dgm:t>
        <a:bodyPr/>
        <a:lstStyle/>
        <a:p>
          <a:endParaRPr lang="en-US"/>
        </a:p>
      </dgm:t>
    </dgm:pt>
    <dgm:pt modelId="{AAE2B0F3-68F2-487A-93A4-FC6603FF2AD2}" type="pres">
      <dgm:prSet presAssocID="{C0ADF74F-75EA-480D-AAD1-BD1E986E45D9}" presName="Name0" presStyleCnt="0">
        <dgm:presLayoutVars>
          <dgm:animLvl val="lvl"/>
          <dgm:resizeHandles val="exact"/>
        </dgm:presLayoutVars>
      </dgm:prSet>
      <dgm:spPr/>
    </dgm:pt>
    <dgm:pt modelId="{89137FA0-60CA-419A-90E1-0757BB67B469}" type="pres">
      <dgm:prSet presAssocID="{CB58B1A2-7165-44D4-B963-7B7388157BAF}" presName="compositeNode" presStyleCnt="0">
        <dgm:presLayoutVars>
          <dgm:bulletEnabled val="1"/>
        </dgm:presLayoutVars>
      </dgm:prSet>
      <dgm:spPr/>
    </dgm:pt>
    <dgm:pt modelId="{D8AD6D44-F0EC-4AD7-BFF3-D94BC6713FF9}" type="pres">
      <dgm:prSet presAssocID="{CB58B1A2-7165-44D4-B963-7B7388157BAF}" presName="bgRect" presStyleLbl="alignNode1" presStyleIdx="0" presStyleCnt="4"/>
      <dgm:spPr/>
    </dgm:pt>
    <dgm:pt modelId="{1FAA484C-0A50-4261-8E7C-47D5C777E14D}" type="pres">
      <dgm:prSet presAssocID="{B3E28D93-A3A3-4C70-8E57-7363CFE443B7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77C5AE54-8FFB-4CCC-8DD6-CDCC9F1B18BD}" type="pres">
      <dgm:prSet presAssocID="{CB58B1A2-7165-44D4-B963-7B7388157BAF}" presName="nodeRect" presStyleLbl="alignNode1" presStyleIdx="0" presStyleCnt="4">
        <dgm:presLayoutVars>
          <dgm:bulletEnabled val="1"/>
        </dgm:presLayoutVars>
      </dgm:prSet>
      <dgm:spPr/>
    </dgm:pt>
    <dgm:pt modelId="{17E05277-0067-425E-AB47-9A188BD717B9}" type="pres">
      <dgm:prSet presAssocID="{B3E28D93-A3A3-4C70-8E57-7363CFE443B7}" presName="sibTrans" presStyleCnt="0"/>
      <dgm:spPr/>
    </dgm:pt>
    <dgm:pt modelId="{1D19A6CA-DD35-4C91-A381-144AE2645940}" type="pres">
      <dgm:prSet presAssocID="{72B92950-FE8F-4438-A653-40EB6CD03986}" presName="compositeNode" presStyleCnt="0">
        <dgm:presLayoutVars>
          <dgm:bulletEnabled val="1"/>
        </dgm:presLayoutVars>
      </dgm:prSet>
      <dgm:spPr/>
    </dgm:pt>
    <dgm:pt modelId="{EFF910BD-2B88-418F-B6D1-9CEC04E015EE}" type="pres">
      <dgm:prSet presAssocID="{72B92950-FE8F-4438-A653-40EB6CD03986}" presName="bgRect" presStyleLbl="alignNode1" presStyleIdx="1" presStyleCnt="4"/>
      <dgm:spPr/>
    </dgm:pt>
    <dgm:pt modelId="{4132074E-96F5-40DC-8E34-8F9F19D8765B}" type="pres">
      <dgm:prSet presAssocID="{A5F4C392-F0D3-4FCE-86F5-8D8A464C720A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24920646-E99E-4031-A14A-1F01C2DFE116}" type="pres">
      <dgm:prSet presAssocID="{72B92950-FE8F-4438-A653-40EB6CD03986}" presName="nodeRect" presStyleLbl="alignNode1" presStyleIdx="1" presStyleCnt="4">
        <dgm:presLayoutVars>
          <dgm:bulletEnabled val="1"/>
        </dgm:presLayoutVars>
      </dgm:prSet>
      <dgm:spPr/>
    </dgm:pt>
    <dgm:pt modelId="{FAAAA875-3B91-4D94-A3B0-E80A4272A250}" type="pres">
      <dgm:prSet presAssocID="{A5F4C392-F0D3-4FCE-86F5-8D8A464C720A}" presName="sibTrans" presStyleCnt="0"/>
      <dgm:spPr/>
    </dgm:pt>
    <dgm:pt modelId="{F152F6FE-A4EB-47E0-9775-2BE6755680B5}" type="pres">
      <dgm:prSet presAssocID="{B5C91F03-3444-47A1-B7FB-499DEA7D2638}" presName="compositeNode" presStyleCnt="0">
        <dgm:presLayoutVars>
          <dgm:bulletEnabled val="1"/>
        </dgm:presLayoutVars>
      </dgm:prSet>
      <dgm:spPr/>
    </dgm:pt>
    <dgm:pt modelId="{881462A8-5104-4F57-8187-B99B3C789FC2}" type="pres">
      <dgm:prSet presAssocID="{B5C91F03-3444-47A1-B7FB-499DEA7D2638}" presName="bgRect" presStyleLbl="alignNode1" presStyleIdx="2" presStyleCnt="4"/>
      <dgm:spPr/>
    </dgm:pt>
    <dgm:pt modelId="{5A1F6F0E-7C26-4185-B3BF-9A388669FE69}" type="pres">
      <dgm:prSet presAssocID="{DFEC9305-C919-4A4D-A158-6E136642427B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21929C86-C5B3-41FF-B1D7-389AD7C4327E}" type="pres">
      <dgm:prSet presAssocID="{B5C91F03-3444-47A1-B7FB-499DEA7D2638}" presName="nodeRect" presStyleLbl="alignNode1" presStyleIdx="2" presStyleCnt="4">
        <dgm:presLayoutVars>
          <dgm:bulletEnabled val="1"/>
        </dgm:presLayoutVars>
      </dgm:prSet>
      <dgm:spPr/>
    </dgm:pt>
    <dgm:pt modelId="{E0A09C46-6112-4B24-A510-F536D9433DBE}" type="pres">
      <dgm:prSet presAssocID="{DFEC9305-C919-4A4D-A158-6E136642427B}" presName="sibTrans" presStyleCnt="0"/>
      <dgm:spPr/>
    </dgm:pt>
    <dgm:pt modelId="{2F8EE6D0-13B1-4BA3-9191-55B3D6994591}" type="pres">
      <dgm:prSet presAssocID="{D18F72DC-F8CA-4EA6-B1F1-48506E4FF16D}" presName="compositeNode" presStyleCnt="0">
        <dgm:presLayoutVars>
          <dgm:bulletEnabled val="1"/>
        </dgm:presLayoutVars>
      </dgm:prSet>
      <dgm:spPr/>
    </dgm:pt>
    <dgm:pt modelId="{EC1DA4E1-5605-4D52-8A54-980DD36C877E}" type="pres">
      <dgm:prSet presAssocID="{D18F72DC-F8CA-4EA6-B1F1-48506E4FF16D}" presName="bgRect" presStyleLbl="alignNode1" presStyleIdx="3" presStyleCnt="4"/>
      <dgm:spPr/>
    </dgm:pt>
    <dgm:pt modelId="{E1272C6E-06FC-46CB-B340-EB11A18330A0}" type="pres">
      <dgm:prSet presAssocID="{08384AA7-1AA3-41E0-9C1A-46609BF8470E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C0C3D33D-2DEC-4586-AF62-AA6F38FAE143}" type="pres">
      <dgm:prSet presAssocID="{D18F72DC-F8CA-4EA6-B1F1-48506E4FF16D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AD1D7105-3F17-4D09-B336-D40330E20D17}" type="presOf" srcId="{72B92950-FE8F-4438-A653-40EB6CD03986}" destId="{EFF910BD-2B88-418F-B6D1-9CEC04E015EE}" srcOrd="0" destOrd="0" presId="urn:microsoft.com/office/officeart/2016/7/layout/LinearBlockProcessNumbered"/>
    <dgm:cxn modelId="{E0147809-BA28-4B2D-82BF-C35F82CF7515}" srcId="{C0ADF74F-75EA-480D-AAD1-BD1E986E45D9}" destId="{B5C91F03-3444-47A1-B7FB-499DEA7D2638}" srcOrd="2" destOrd="0" parTransId="{CC00ED7D-F581-4B4D-AE1C-341CB6869165}" sibTransId="{DFEC9305-C919-4A4D-A158-6E136642427B}"/>
    <dgm:cxn modelId="{A488470B-8743-4D95-9DC2-1295F7710111}" type="presOf" srcId="{C0ADF74F-75EA-480D-AAD1-BD1E986E45D9}" destId="{AAE2B0F3-68F2-487A-93A4-FC6603FF2AD2}" srcOrd="0" destOrd="0" presId="urn:microsoft.com/office/officeart/2016/7/layout/LinearBlockProcessNumbered"/>
    <dgm:cxn modelId="{4551F530-1ECF-464D-8CCF-0EE5F2664E9E}" type="presOf" srcId="{A5F4C392-F0D3-4FCE-86F5-8D8A464C720A}" destId="{4132074E-96F5-40DC-8E34-8F9F19D8765B}" srcOrd="0" destOrd="0" presId="urn:microsoft.com/office/officeart/2016/7/layout/LinearBlockProcessNumbered"/>
    <dgm:cxn modelId="{CB63AB33-746E-4517-95CF-5DEFFF6A779D}" type="presOf" srcId="{CB58B1A2-7165-44D4-B963-7B7388157BAF}" destId="{D8AD6D44-F0EC-4AD7-BFF3-D94BC6713FF9}" srcOrd="0" destOrd="0" presId="urn:microsoft.com/office/officeart/2016/7/layout/LinearBlockProcessNumbered"/>
    <dgm:cxn modelId="{DCEBC138-E14A-43E3-9433-A85893B85F2E}" srcId="{C0ADF74F-75EA-480D-AAD1-BD1E986E45D9}" destId="{D18F72DC-F8CA-4EA6-B1F1-48506E4FF16D}" srcOrd="3" destOrd="0" parTransId="{43E979FA-53B5-4181-BDA4-4B606869F46E}" sibTransId="{08384AA7-1AA3-41E0-9C1A-46609BF8470E}"/>
    <dgm:cxn modelId="{ADCA535D-A670-42C2-8759-FE104B7606F0}" type="presOf" srcId="{72B92950-FE8F-4438-A653-40EB6CD03986}" destId="{24920646-E99E-4031-A14A-1F01C2DFE116}" srcOrd="1" destOrd="0" presId="urn:microsoft.com/office/officeart/2016/7/layout/LinearBlockProcessNumbered"/>
    <dgm:cxn modelId="{55608C73-ED1F-48C5-94C0-5B466693CDC6}" type="presOf" srcId="{D18F72DC-F8CA-4EA6-B1F1-48506E4FF16D}" destId="{C0C3D33D-2DEC-4586-AF62-AA6F38FAE143}" srcOrd="1" destOrd="0" presId="urn:microsoft.com/office/officeart/2016/7/layout/LinearBlockProcessNumbered"/>
    <dgm:cxn modelId="{D6492A56-3E5D-409C-879D-D5E26DAACBF1}" srcId="{C0ADF74F-75EA-480D-AAD1-BD1E986E45D9}" destId="{72B92950-FE8F-4438-A653-40EB6CD03986}" srcOrd="1" destOrd="0" parTransId="{F1517497-466A-4E16-8FCE-6094BD613EAA}" sibTransId="{A5F4C392-F0D3-4FCE-86F5-8D8A464C720A}"/>
    <dgm:cxn modelId="{EEA82C8B-7C0B-4D12-860B-20A2D538D485}" type="presOf" srcId="{B3E28D93-A3A3-4C70-8E57-7363CFE443B7}" destId="{1FAA484C-0A50-4261-8E7C-47D5C777E14D}" srcOrd="0" destOrd="0" presId="urn:microsoft.com/office/officeart/2016/7/layout/LinearBlockProcessNumbered"/>
    <dgm:cxn modelId="{ED773191-F4AF-4A5C-9D26-E4F018D2D605}" srcId="{C0ADF74F-75EA-480D-AAD1-BD1E986E45D9}" destId="{CB58B1A2-7165-44D4-B963-7B7388157BAF}" srcOrd="0" destOrd="0" parTransId="{14B5C87F-E8DF-407A-B9C0-17887CB186ED}" sibTransId="{B3E28D93-A3A3-4C70-8E57-7363CFE443B7}"/>
    <dgm:cxn modelId="{B184549A-A6F2-4B9A-A915-1E5573ADB9A9}" type="presOf" srcId="{D18F72DC-F8CA-4EA6-B1F1-48506E4FF16D}" destId="{EC1DA4E1-5605-4D52-8A54-980DD36C877E}" srcOrd="0" destOrd="0" presId="urn:microsoft.com/office/officeart/2016/7/layout/LinearBlockProcessNumbered"/>
    <dgm:cxn modelId="{A9C87EA9-7C5B-4F03-8122-AA125267042D}" type="presOf" srcId="{CB58B1A2-7165-44D4-B963-7B7388157BAF}" destId="{77C5AE54-8FFB-4CCC-8DD6-CDCC9F1B18BD}" srcOrd="1" destOrd="0" presId="urn:microsoft.com/office/officeart/2016/7/layout/LinearBlockProcessNumbered"/>
    <dgm:cxn modelId="{62097EC5-2EB9-487F-A01B-2E9BE49FFA7D}" type="presOf" srcId="{B5C91F03-3444-47A1-B7FB-499DEA7D2638}" destId="{881462A8-5104-4F57-8187-B99B3C789FC2}" srcOrd="0" destOrd="0" presId="urn:microsoft.com/office/officeart/2016/7/layout/LinearBlockProcessNumbered"/>
    <dgm:cxn modelId="{77AC0CC9-2F1A-438C-BE4D-D7BC24E73C2F}" type="presOf" srcId="{08384AA7-1AA3-41E0-9C1A-46609BF8470E}" destId="{E1272C6E-06FC-46CB-B340-EB11A18330A0}" srcOrd="0" destOrd="0" presId="urn:microsoft.com/office/officeart/2016/7/layout/LinearBlockProcessNumbered"/>
    <dgm:cxn modelId="{D91604CF-C302-4618-8AA0-52367DFCCC63}" type="presOf" srcId="{DFEC9305-C919-4A4D-A158-6E136642427B}" destId="{5A1F6F0E-7C26-4185-B3BF-9A388669FE69}" srcOrd="0" destOrd="0" presId="urn:microsoft.com/office/officeart/2016/7/layout/LinearBlockProcessNumbered"/>
    <dgm:cxn modelId="{38BF48E1-8C73-4158-AE70-37F7E065DA34}" type="presOf" srcId="{B5C91F03-3444-47A1-B7FB-499DEA7D2638}" destId="{21929C86-C5B3-41FF-B1D7-389AD7C4327E}" srcOrd="1" destOrd="0" presId="urn:microsoft.com/office/officeart/2016/7/layout/LinearBlockProcessNumbered"/>
    <dgm:cxn modelId="{A556E5E8-1314-4EDA-9F30-AB1DD59A2853}" type="presParOf" srcId="{AAE2B0F3-68F2-487A-93A4-FC6603FF2AD2}" destId="{89137FA0-60CA-419A-90E1-0757BB67B469}" srcOrd="0" destOrd="0" presId="urn:microsoft.com/office/officeart/2016/7/layout/LinearBlockProcessNumbered"/>
    <dgm:cxn modelId="{B7537047-30CE-40F8-8F74-3573F703D657}" type="presParOf" srcId="{89137FA0-60CA-419A-90E1-0757BB67B469}" destId="{D8AD6D44-F0EC-4AD7-BFF3-D94BC6713FF9}" srcOrd="0" destOrd="0" presId="urn:microsoft.com/office/officeart/2016/7/layout/LinearBlockProcessNumbered"/>
    <dgm:cxn modelId="{27981BCF-5BA9-4746-8C92-331C3565FAE1}" type="presParOf" srcId="{89137FA0-60CA-419A-90E1-0757BB67B469}" destId="{1FAA484C-0A50-4261-8E7C-47D5C777E14D}" srcOrd="1" destOrd="0" presId="urn:microsoft.com/office/officeart/2016/7/layout/LinearBlockProcessNumbered"/>
    <dgm:cxn modelId="{0180CE8A-FCDA-4094-9C8A-26FB394A65C5}" type="presParOf" srcId="{89137FA0-60CA-419A-90E1-0757BB67B469}" destId="{77C5AE54-8FFB-4CCC-8DD6-CDCC9F1B18BD}" srcOrd="2" destOrd="0" presId="urn:microsoft.com/office/officeart/2016/7/layout/LinearBlockProcessNumbered"/>
    <dgm:cxn modelId="{192D965E-6FCB-4285-B723-87075D3F57E6}" type="presParOf" srcId="{AAE2B0F3-68F2-487A-93A4-FC6603FF2AD2}" destId="{17E05277-0067-425E-AB47-9A188BD717B9}" srcOrd="1" destOrd="0" presId="urn:microsoft.com/office/officeart/2016/7/layout/LinearBlockProcessNumbered"/>
    <dgm:cxn modelId="{6A317859-A5B2-448B-B840-A2CCCB30DB7E}" type="presParOf" srcId="{AAE2B0F3-68F2-487A-93A4-FC6603FF2AD2}" destId="{1D19A6CA-DD35-4C91-A381-144AE2645940}" srcOrd="2" destOrd="0" presId="urn:microsoft.com/office/officeart/2016/7/layout/LinearBlockProcessNumbered"/>
    <dgm:cxn modelId="{2D46EB3A-477C-493A-AB57-7A78F30CBEAA}" type="presParOf" srcId="{1D19A6CA-DD35-4C91-A381-144AE2645940}" destId="{EFF910BD-2B88-418F-B6D1-9CEC04E015EE}" srcOrd="0" destOrd="0" presId="urn:microsoft.com/office/officeart/2016/7/layout/LinearBlockProcessNumbered"/>
    <dgm:cxn modelId="{C35B45CF-A139-4047-8B5D-8D405300F6D5}" type="presParOf" srcId="{1D19A6CA-DD35-4C91-A381-144AE2645940}" destId="{4132074E-96F5-40DC-8E34-8F9F19D8765B}" srcOrd="1" destOrd="0" presId="urn:microsoft.com/office/officeart/2016/7/layout/LinearBlockProcessNumbered"/>
    <dgm:cxn modelId="{59420383-DB30-4D37-960E-55A0A3CE1130}" type="presParOf" srcId="{1D19A6CA-DD35-4C91-A381-144AE2645940}" destId="{24920646-E99E-4031-A14A-1F01C2DFE116}" srcOrd="2" destOrd="0" presId="urn:microsoft.com/office/officeart/2016/7/layout/LinearBlockProcessNumbered"/>
    <dgm:cxn modelId="{C6F2721D-7DA9-4A34-A831-DEDD5A902F8C}" type="presParOf" srcId="{AAE2B0F3-68F2-487A-93A4-FC6603FF2AD2}" destId="{FAAAA875-3B91-4D94-A3B0-E80A4272A250}" srcOrd="3" destOrd="0" presId="urn:microsoft.com/office/officeart/2016/7/layout/LinearBlockProcessNumbered"/>
    <dgm:cxn modelId="{7A3AF076-0349-447B-87B9-187B16438E7E}" type="presParOf" srcId="{AAE2B0F3-68F2-487A-93A4-FC6603FF2AD2}" destId="{F152F6FE-A4EB-47E0-9775-2BE6755680B5}" srcOrd="4" destOrd="0" presId="urn:microsoft.com/office/officeart/2016/7/layout/LinearBlockProcessNumbered"/>
    <dgm:cxn modelId="{B06DC34C-CFA9-4E90-B50C-057ED4753F91}" type="presParOf" srcId="{F152F6FE-A4EB-47E0-9775-2BE6755680B5}" destId="{881462A8-5104-4F57-8187-B99B3C789FC2}" srcOrd="0" destOrd="0" presId="urn:microsoft.com/office/officeart/2016/7/layout/LinearBlockProcessNumbered"/>
    <dgm:cxn modelId="{84787697-CC48-48A3-ABFF-0BF0ECB32BA8}" type="presParOf" srcId="{F152F6FE-A4EB-47E0-9775-2BE6755680B5}" destId="{5A1F6F0E-7C26-4185-B3BF-9A388669FE69}" srcOrd="1" destOrd="0" presId="urn:microsoft.com/office/officeart/2016/7/layout/LinearBlockProcessNumbered"/>
    <dgm:cxn modelId="{4867EC28-3253-4644-8183-1BB66CD88EE6}" type="presParOf" srcId="{F152F6FE-A4EB-47E0-9775-2BE6755680B5}" destId="{21929C86-C5B3-41FF-B1D7-389AD7C4327E}" srcOrd="2" destOrd="0" presId="urn:microsoft.com/office/officeart/2016/7/layout/LinearBlockProcessNumbered"/>
    <dgm:cxn modelId="{BD28D696-446D-4098-B125-BDC435388775}" type="presParOf" srcId="{AAE2B0F3-68F2-487A-93A4-FC6603FF2AD2}" destId="{E0A09C46-6112-4B24-A510-F536D9433DBE}" srcOrd="5" destOrd="0" presId="urn:microsoft.com/office/officeart/2016/7/layout/LinearBlockProcessNumbered"/>
    <dgm:cxn modelId="{AD923A72-1488-4329-A067-BA5F58C22C7F}" type="presParOf" srcId="{AAE2B0F3-68F2-487A-93A4-FC6603FF2AD2}" destId="{2F8EE6D0-13B1-4BA3-9191-55B3D6994591}" srcOrd="6" destOrd="0" presId="urn:microsoft.com/office/officeart/2016/7/layout/LinearBlockProcessNumbered"/>
    <dgm:cxn modelId="{EBFCCC93-366D-4952-B13C-DE876AD80EB9}" type="presParOf" srcId="{2F8EE6D0-13B1-4BA3-9191-55B3D6994591}" destId="{EC1DA4E1-5605-4D52-8A54-980DD36C877E}" srcOrd="0" destOrd="0" presId="urn:microsoft.com/office/officeart/2016/7/layout/LinearBlockProcessNumbered"/>
    <dgm:cxn modelId="{ABF851FA-04D5-4091-ADA4-1F08D67D6415}" type="presParOf" srcId="{2F8EE6D0-13B1-4BA3-9191-55B3D6994591}" destId="{E1272C6E-06FC-46CB-B340-EB11A18330A0}" srcOrd="1" destOrd="0" presId="urn:microsoft.com/office/officeart/2016/7/layout/LinearBlockProcessNumbered"/>
    <dgm:cxn modelId="{63418130-E3DC-468C-9F33-D682F2C6325C}" type="presParOf" srcId="{2F8EE6D0-13B1-4BA3-9191-55B3D6994591}" destId="{C0C3D33D-2DEC-4586-AF62-AA6F38FAE14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9F9E717-CB47-43D5-9B7F-B2FF48F22496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6_4" csCatId="accent6"/>
      <dgm:spPr/>
      <dgm:t>
        <a:bodyPr/>
        <a:lstStyle/>
        <a:p>
          <a:endParaRPr lang="en-US"/>
        </a:p>
      </dgm:t>
    </dgm:pt>
    <dgm:pt modelId="{3615D29C-296E-4953-9999-D5DD6A12ECDB}">
      <dgm:prSet custT="1"/>
      <dgm:spPr/>
      <dgm:t>
        <a:bodyPr/>
        <a:lstStyle/>
        <a:p>
          <a:r>
            <a:rPr lang="en-US" sz="2000">
              <a:latin typeface="Times New Roman"/>
              <a:cs typeface="Times New Roman"/>
            </a:rPr>
            <a:t>Expand</a:t>
          </a:r>
        </a:p>
      </dgm:t>
    </dgm:pt>
    <dgm:pt modelId="{AA13537E-6855-4073-AA15-FD154BC57A77}" type="parTrans" cxnId="{3F817473-868F-453E-9531-8760BB63DD72}">
      <dgm:prSet/>
      <dgm:spPr/>
      <dgm:t>
        <a:bodyPr/>
        <a:lstStyle/>
        <a:p>
          <a:endParaRPr lang="en-US"/>
        </a:p>
      </dgm:t>
    </dgm:pt>
    <dgm:pt modelId="{7C8A4FF7-7C1A-4961-8E18-82BF9E00B16B}" type="sibTrans" cxnId="{3F817473-868F-453E-9531-8760BB63DD72}">
      <dgm:prSet/>
      <dgm:spPr/>
      <dgm:t>
        <a:bodyPr/>
        <a:lstStyle/>
        <a:p>
          <a:endParaRPr lang="en-US"/>
        </a:p>
      </dgm:t>
    </dgm:pt>
    <dgm:pt modelId="{F952A53A-B961-4C79-A050-641E45E424CB}">
      <dgm:prSet custT="1"/>
      <dgm:spPr/>
      <dgm:t>
        <a:bodyPr/>
        <a:lstStyle/>
        <a:p>
          <a:r>
            <a:rPr lang="en-US" sz="2000">
              <a:latin typeface="Times New Roman"/>
              <a:cs typeface="Times New Roman"/>
            </a:rPr>
            <a:t>Expand the outlet evaluation framework to cover a larger retail universe across multiple territories and distributors. </a:t>
          </a:r>
        </a:p>
      </dgm:t>
    </dgm:pt>
    <dgm:pt modelId="{11FEA9F5-F779-431E-9FC4-C1536738BA6D}" type="parTrans" cxnId="{427D0628-7C44-446E-9AB8-4BD8A671E97A}">
      <dgm:prSet/>
      <dgm:spPr/>
      <dgm:t>
        <a:bodyPr/>
        <a:lstStyle/>
        <a:p>
          <a:endParaRPr lang="en-US"/>
        </a:p>
      </dgm:t>
    </dgm:pt>
    <dgm:pt modelId="{75DF6194-A442-4F08-9510-2219BAC5C84A}" type="sibTrans" cxnId="{427D0628-7C44-446E-9AB8-4BD8A671E97A}">
      <dgm:prSet/>
      <dgm:spPr/>
      <dgm:t>
        <a:bodyPr/>
        <a:lstStyle/>
        <a:p>
          <a:endParaRPr lang="en-US"/>
        </a:p>
      </dgm:t>
    </dgm:pt>
    <dgm:pt modelId="{0576C323-D300-4D84-B369-E1A49B06EB0D}">
      <dgm:prSet/>
      <dgm:spPr/>
      <dgm:t>
        <a:bodyPr/>
        <a:lstStyle/>
        <a:p>
          <a:r>
            <a:rPr lang="en-US" sz="2000">
              <a:latin typeface="Times New Roman"/>
              <a:cs typeface="Times New Roman"/>
            </a:rPr>
            <a:t>Integrate</a:t>
          </a:r>
        </a:p>
      </dgm:t>
    </dgm:pt>
    <dgm:pt modelId="{14BFA4E1-0186-4684-9A24-8FCBE54982A9}" type="parTrans" cxnId="{9CE58D2B-98DD-40A4-A919-511F7580E339}">
      <dgm:prSet/>
      <dgm:spPr/>
      <dgm:t>
        <a:bodyPr/>
        <a:lstStyle/>
        <a:p>
          <a:endParaRPr lang="en-US"/>
        </a:p>
      </dgm:t>
    </dgm:pt>
    <dgm:pt modelId="{E89927DE-969A-47C7-A5E8-FB1AC9E793FF}" type="sibTrans" cxnId="{9CE58D2B-98DD-40A4-A919-511F7580E339}">
      <dgm:prSet/>
      <dgm:spPr/>
      <dgm:t>
        <a:bodyPr/>
        <a:lstStyle/>
        <a:p>
          <a:endParaRPr lang="en-US"/>
        </a:p>
      </dgm:t>
    </dgm:pt>
    <dgm:pt modelId="{9AD13B30-4BA8-460B-9B59-E4D857C7F61A}">
      <dgm:prSet custT="1"/>
      <dgm:spPr/>
      <dgm:t>
        <a:bodyPr/>
        <a:lstStyle/>
        <a:p>
          <a:r>
            <a:rPr lang="en-US" sz="2000">
              <a:latin typeface="Times New Roman"/>
              <a:cs typeface="Times New Roman"/>
            </a:rPr>
            <a:t>Integrate real-time sales and billing data to make outlet scoring more dynamic and data-driven.</a:t>
          </a:r>
          <a:r>
            <a:rPr lang="en-US" sz="1800">
              <a:latin typeface="Times New Roman"/>
              <a:cs typeface="Times New Roman"/>
            </a:rPr>
            <a:t> </a:t>
          </a:r>
        </a:p>
      </dgm:t>
    </dgm:pt>
    <dgm:pt modelId="{2BB41E53-F43D-4C92-AA70-FBC77F7D430F}" type="parTrans" cxnId="{34664BB9-2153-427D-B52D-998A2008B24B}">
      <dgm:prSet/>
      <dgm:spPr/>
      <dgm:t>
        <a:bodyPr/>
        <a:lstStyle/>
        <a:p>
          <a:endParaRPr lang="en-US"/>
        </a:p>
      </dgm:t>
    </dgm:pt>
    <dgm:pt modelId="{368D6622-EACA-4DBC-94D8-3BF74C3DB60C}" type="sibTrans" cxnId="{34664BB9-2153-427D-B52D-998A2008B24B}">
      <dgm:prSet/>
      <dgm:spPr/>
      <dgm:t>
        <a:bodyPr/>
        <a:lstStyle/>
        <a:p>
          <a:endParaRPr lang="en-US"/>
        </a:p>
      </dgm:t>
    </dgm:pt>
    <dgm:pt modelId="{3C9C98EB-9FE8-4511-97F9-AA2E2D61B2AB}">
      <dgm:prSet/>
      <dgm:spPr/>
      <dgm:t>
        <a:bodyPr/>
        <a:lstStyle/>
        <a:p>
          <a:r>
            <a:rPr lang="en-US" sz="2000">
              <a:latin typeface="Times New Roman"/>
              <a:cs typeface="Times New Roman"/>
            </a:rPr>
            <a:t>Develop</a:t>
          </a:r>
        </a:p>
      </dgm:t>
    </dgm:pt>
    <dgm:pt modelId="{52B47E5B-11A2-48FE-8FD8-E0DD11FA4861}" type="parTrans" cxnId="{EE12B0E0-9C69-4137-82EE-9DCD493AD5E3}">
      <dgm:prSet/>
      <dgm:spPr/>
      <dgm:t>
        <a:bodyPr/>
        <a:lstStyle/>
        <a:p>
          <a:endParaRPr lang="en-US"/>
        </a:p>
      </dgm:t>
    </dgm:pt>
    <dgm:pt modelId="{01D76392-0F48-4488-93BB-4D78A5CEA5A9}" type="sibTrans" cxnId="{EE12B0E0-9C69-4137-82EE-9DCD493AD5E3}">
      <dgm:prSet/>
      <dgm:spPr/>
      <dgm:t>
        <a:bodyPr/>
        <a:lstStyle/>
        <a:p>
          <a:endParaRPr lang="en-US"/>
        </a:p>
      </dgm:t>
    </dgm:pt>
    <dgm:pt modelId="{4E9FD449-B8BE-4E8A-96E8-7A569DF515C2}">
      <dgm:prSet custT="1"/>
      <dgm:spPr/>
      <dgm:t>
        <a:bodyPr/>
        <a:lstStyle/>
        <a:p>
          <a:r>
            <a:rPr lang="en-US" sz="2000">
              <a:latin typeface="Times New Roman"/>
              <a:cs typeface="Times New Roman"/>
            </a:rPr>
            <a:t>Develop a centralized dashboard for Sales Officers and Area Sales Managers to monitor outlet performance and execution quality. </a:t>
          </a:r>
        </a:p>
      </dgm:t>
    </dgm:pt>
    <dgm:pt modelId="{A23FCF21-824D-4831-AD83-8C5EA22B846C}" type="parTrans" cxnId="{CBC2D44B-1284-4833-B561-7614ADE86C7E}">
      <dgm:prSet/>
      <dgm:spPr/>
      <dgm:t>
        <a:bodyPr/>
        <a:lstStyle/>
        <a:p>
          <a:endParaRPr lang="en-US"/>
        </a:p>
      </dgm:t>
    </dgm:pt>
    <dgm:pt modelId="{16E9B5F5-13FC-4651-BC2E-8345EBAF2D49}" type="sibTrans" cxnId="{CBC2D44B-1284-4833-B561-7614ADE86C7E}">
      <dgm:prSet/>
      <dgm:spPr/>
      <dgm:t>
        <a:bodyPr/>
        <a:lstStyle/>
        <a:p>
          <a:endParaRPr lang="en-US"/>
        </a:p>
      </dgm:t>
    </dgm:pt>
    <dgm:pt modelId="{19819B15-FEC9-4D72-B219-344784681732}">
      <dgm:prSet/>
      <dgm:spPr/>
      <dgm:t>
        <a:bodyPr/>
        <a:lstStyle/>
        <a:p>
          <a:r>
            <a:rPr lang="en-US" sz="2000">
              <a:latin typeface="Times New Roman"/>
              <a:cs typeface="Times New Roman"/>
            </a:rPr>
            <a:t>Incorporate</a:t>
          </a:r>
        </a:p>
      </dgm:t>
    </dgm:pt>
    <dgm:pt modelId="{DF5E8311-7BBA-4085-AB0D-6C7DF6001547}" type="parTrans" cxnId="{FA7B9196-05BA-47BA-92CE-C1E6D5A1EDF8}">
      <dgm:prSet/>
      <dgm:spPr/>
      <dgm:t>
        <a:bodyPr/>
        <a:lstStyle/>
        <a:p>
          <a:endParaRPr lang="en-US"/>
        </a:p>
      </dgm:t>
    </dgm:pt>
    <dgm:pt modelId="{B0A4B493-A037-4165-830F-4743640CECE6}" type="sibTrans" cxnId="{FA7B9196-05BA-47BA-92CE-C1E6D5A1EDF8}">
      <dgm:prSet/>
      <dgm:spPr/>
      <dgm:t>
        <a:bodyPr/>
        <a:lstStyle/>
        <a:p>
          <a:endParaRPr lang="en-US"/>
        </a:p>
      </dgm:t>
    </dgm:pt>
    <dgm:pt modelId="{C06F37BC-9A25-4B8B-B6DC-1D935E0E2701}">
      <dgm:prSet custT="1"/>
      <dgm:spPr/>
      <dgm:t>
        <a:bodyPr/>
        <a:lstStyle/>
        <a:p>
          <a:r>
            <a:rPr lang="en-US" sz="2000">
              <a:latin typeface="Times New Roman"/>
              <a:cs typeface="Times New Roman"/>
            </a:rPr>
            <a:t>Incorporate predictive analytics to identify high-potential outlets and recommend priority actions before market visits. </a:t>
          </a:r>
        </a:p>
      </dgm:t>
    </dgm:pt>
    <dgm:pt modelId="{FD55F2A9-AD62-4CA2-8FB4-9DF42F73064F}" type="parTrans" cxnId="{A361E335-59C9-4B2D-ADE3-E08D195A1558}">
      <dgm:prSet/>
      <dgm:spPr/>
      <dgm:t>
        <a:bodyPr/>
        <a:lstStyle/>
        <a:p>
          <a:endParaRPr lang="en-US"/>
        </a:p>
      </dgm:t>
    </dgm:pt>
    <dgm:pt modelId="{7BE04454-35B1-4E8F-BE54-ABF60370D869}" type="sibTrans" cxnId="{A361E335-59C9-4B2D-ADE3-E08D195A1558}">
      <dgm:prSet/>
      <dgm:spPr/>
      <dgm:t>
        <a:bodyPr/>
        <a:lstStyle/>
        <a:p>
          <a:endParaRPr lang="en-US"/>
        </a:p>
      </dgm:t>
    </dgm:pt>
    <dgm:pt modelId="{1EF3948E-E47A-41B2-974F-0445F98666DD}">
      <dgm:prSet/>
      <dgm:spPr/>
      <dgm:t>
        <a:bodyPr/>
        <a:lstStyle/>
        <a:p>
          <a:r>
            <a:rPr lang="en-US" sz="2000">
              <a:latin typeface="Times New Roman"/>
              <a:cs typeface="Times New Roman"/>
            </a:rPr>
            <a:t>Enable</a:t>
          </a:r>
        </a:p>
      </dgm:t>
    </dgm:pt>
    <dgm:pt modelId="{80B723BA-1D6D-43FE-A10F-FA6522AEFB97}" type="parTrans" cxnId="{A9DDF316-4D1E-4A78-B4A6-DB60C2845948}">
      <dgm:prSet/>
      <dgm:spPr/>
      <dgm:t>
        <a:bodyPr/>
        <a:lstStyle/>
        <a:p>
          <a:endParaRPr lang="en-US"/>
        </a:p>
      </dgm:t>
    </dgm:pt>
    <dgm:pt modelId="{F962E9A4-132C-4A09-99E6-C3E0F2DA99C7}" type="sibTrans" cxnId="{A9DDF316-4D1E-4A78-B4A6-DB60C2845948}">
      <dgm:prSet/>
      <dgm:spPr/>
      <dgm:t>
        <a:bodyPr/>
        <a:lstStyle/>
        <a:p>
          <a:endParaRPr lang="en-US"/>
        </a:p>
      </dgm:t>
    </dgm:pt>
    <dgm:pt modelId="{D49EEEFE-B0FC-4F70-BF65-00C94D5279D6}">
      <dgm:prSet custT="1"/>
      <dgm:spPr/>
      <dgm:t>
        <a:bodyPr/>
        <a:lstStyle/>
        <a:p>
          <a:r>
            <a:rPr lang="en-US" sz="2000">
              <a:latin typeface="Times New Roman"/>
              <a:cs typeface="Times New Roman"/>
            </a:rPr>
            <a:t>Enable periodic outlet re-evaluation to track improvements in visibility, assortment, and execution over time.</a:t>
          </a:r>
        </a:p>
      </dgm:t>
    </dgm:pt>
    <dgm:pt modelId="{3AE13522-93C9-413A-9532-4A968CD1552C}" type="parTrans" cxnId="{FA25C0B6-7E51-4601-A2C2-D172EF8A16CE}">
      <dgm:prSet/>
      <dgm:spPr/>
      <dgm:t>
        <a:bodyPr/>
        <a:lstStyle/>
        <a:p>
          <a:endParaRPr lang="en-US"/>
        </a:p>
      </dgm:t>
    </dgm:pt>
    <dgm:pt modelId="{BC93ECEF-E50E-46B4-9A89-61311937D60F}" type="sibTrans" cxnId="{FA25C0B6-7E51-4601-A2C2-D172EF8A16CE}">
      <dgm:prSet/>
      <dgm:spPr/>
      <dgm:t>
        <a:bodyPr/>
        <a:lstStyle/>
        <a:p>
          <a:endParaRPr lang="en-US"/>
        </a:p>
      </dgm:t>
    </dgm:pt>
    <dgm:pt modelId="{E06A68F7-FF6F-4C3A-A65D-55544564E9B9}" type="pres">
      <dgm:prSet presAssocID="{D9F9E717-CB47-43D5-9B7F-B2FF48F22496}" presName="Name0" presStyleCnt="0">
        <dgm:presLayoutVars>
          <dgm:dir/>
          <dgm:animLvl val="lvl"/>
          <dgm:resizeHandles val="exact"/>
        </dgm:presLayoutVars>
      </dgm:prSet>
      <dgm:spPr/>
    </dgm:pt>
    <dgm:pt modelId="{A65DA7C3-782B-4FB1-AFC3-FBFC08BE70CD}" type="pres">
      <dgm:prSet presAssocID="{3615D29C-296E-4953-9999-D5DD6A12ECDB}" presName="linNode" presStyleCnt="0"/>
      <dgm:spPr/>
    </dgm:pt>
    <dgm:pt modelId="{826C3838-D3E3-44A6-96D4-6A5D32348E8E}" type="pres">
      <dgm:prSet presAssocID="{3615D29C-296E-4953-9999-D5DD6A12ECDB}" presName="parentText" presStyleLbl="solidFgAcc1" presStyleIdx="0" presStyleCnt="5">
        <dgm:presLayoutVars>
          <dgm:chMax val="1"/>
          <dgm:bulletEnabled/>
        </dgm:presLayoutVars>
      </dgm:prSet>
      <dgm:spPr/>
    </dgm:pt>
    <dgm:pt modelId="{5DC57578-1E83-4D33-82AE-65627FF2C8E5}" type="pres">
      <dgm:prSet presAssocID="{3615D29C-296E-4953-9999-D5DD6A12ECDB}" presName="descendantText" presStyleLbl="alignNode1" presStyleIdx="0" presStyleCnt="5">
        <dgm:presLayoutVars>
          <dgm:bulletEnabled/>
        </dgm:presLayoutVars>
      </dgm:prSet>
      <dgm:spPr/>
    </dgm:pt>
    <dgm:pt modelId="{2CEABBC4-20DA-4DE0-AD35-E8EFB92669D3}" type="pres">
      <dgm:prSet presAssocID="{7C8A4FF7-7C1A-4961-8E18-82BF9E00B16B}" presName="sp" presStyleCnt="0"/>
      <dgm:spPr/>
    </dgm:pt>
    <dgm:pt modelId="{D4E26F6F-6A5D-4F22-8A29-CB0C140E39F4}" type="pres">
      <dgm:prSet presAssocID="{0576C323-D300-4D84-B369-E1A49B06EB0D}" presName="linNode" presStyleCnt="0"/>
      <dgm:spPr/>
    </dgm:pt>
    <dgm:pt modelId="{505E7FFC-C20D-4325-AB11-583A43ED7A3E}" type="pres">
      <dgm:prSet presAssocID="{0576C323-D300-4D84-B369-E1A49B06EB0D}" presName="parentText" presStyleLbl="solidFgAcc1" presStyleIdx="1" presStyleCnt="5">
        <dgm:presLayoutVars>
          <dgm:chMax val="1"/>
          <dgm:bulletEnabled/>
        </dgm:presLayoutVars>
      </dgm:prSet>
      <dgm:spPr/>
    </dgm:pt>
    <dgm:pt modelId="{44A315B4-F972-41A1-A98B-2A79D056D0E7}" type="pres">
      <dgm:prSet presAssocID="{0576C323-D300-4D84-B369-E1A49B06EB0D}" presName="descendantText" presStyleLbl="alignNode1" presStyleIdx="1" presStyleCnt="5">
        <dgm:presLayoutVars>
          <dgm:bulletEnabled/>
        </dgm:presLayoutVars>
      </dgm:prSet>
      <dgm:spPr/>
    </dgm:pt>
    <dgm:pt modelId="{F16E51A4-88B7-43C8-9EE3-94E63F3ED88D}" type="pres">
      <dgm:prSet presAssocID="{E89927DE-969A-47C7-A5E8-FB1AC9E793FF}" presName="sp" presStyleCnt="0"/>
      <dgm:spPr/>
    </dgm:pt>
    <dgm:pt modelId="{750F1BD6-D2D2-4D0D-AFFD-51E85604F285}" type="pres">
      <dgm:prSet presAssocID="{3C9C98EB-9FE8-4511-97F9-AA2E2D61B2AB}" presName="linNode" presStyleCnt="0"/>
      <dgm:spPr/>
    </dgm:pt>
    <dgm:pt modelId="{462B3EFC-89AA-40A1-BE2C-50DC3AEF48F9}" type="pres">
      <dgm:prSet presAssocID="{3C9C98EB-9FE8-4511-97F9-AA2E2D61B2AB}" presName="parentText" presStyleLbl="solidFgAcc1" presStyleIdx="2" presStyleCnt="5">
        <dgm:presLayoutVars>
          <dgm:chMax val="1"/>
          <dgm:bulletEnabled/>
        </dgm:presLayoutVars>
      </dgm:prSet>
      <dgm:spPr/>
    </dgm:pt>
    <dgm:pt modelId="{3B410EEA-D8A5-41F1-8692-C438169DE2B0}" type="pres">
      <dgm:prSet presAssocID="{3C9C98EB-9FE8-4511-97F9-AA2E2D61B2AB}" presName="descendantText" presStyleLbl="alignNode1" presStyleIdx="2" presStyleCnt="5">
        <dgm:presLayoutVars>
          <dgm:bulletEnabled/>
        </dgm:presLayoutVars>
      </dgm:prSet>
      <dgm:spPr/>
    </dgm:pt>
    <dgm:pt modelId="{306448CB-FD13-4D7C-AF74-EC46C26B8081}" type="pres">
      <dgm:prSet presAssocID="{01D76392-0F48-4488-93BB-4D78A5CEA5A9}" presName="sp" presStyleCnt="0"/>
      <dgm:spPr/>
    </dgm:pt>
    <dgm:pt modelId="{B1885D24-5D16-43B0-889E-4A4B7FA276BF}" type="pres">
      <dgm:prSet presAssocID="{19819B15-FEC9-4D72-B219-344784681732}" presName="linNode" presStyleCnt="0"/>
      <dgm:spPr/>
    </dgm:pt>
    <dgm:pt modelId="{DCE80F8F-5CDF-4A9E-9DC0-1E85317253E6}" type="pres">
      <dgm:prSet presAssocID="{19819B15-FEC9-4D72-B219-344784681732}" presName="parentText" presStyleLbl="solidFgAcc1" presStyleIdx="3" presStyleCnt="5">
        <dgm:presLayoutVars>
          <dgm:chMax val="1"/>
          <dgm:bulletEnabled/>
        </dgm:presLayoutVars>
      </dgm:prSet>
      <dgm:spPr/>
    </dgm:pt>
    <dgm:pt modelId="{E505CFB2-CE55-4BC1-9796-8073719FE792}" type="pres">
      <dgm:prSet presAssocID="{19819B15-FEC9-4D72-B219-344784681732}" presName="descendantText" presStyleLbl="alignNode1" presStyleIdx="3" presStyleCnt="5">
        <dgm:presLayoutVars>
          <dgm:bulletEnabled/>
        </dgm:presLayoutVars>
      </dgm:prSet>
      <dgm:spPr/>
    </dgm:pt>
    <dgm:pt modelId="{15A29E31-2BDB-4423-B3EF-7CD488B23FDC}" type="pres">
      <dgm:prSet presAssocID="{B0A4B493-A037-4165-830F-4743640CECE6}" presName="sp" presStyleCnt="0"/>
      <dgm:spPr/>
    </dgm:pt>
    <dgm:pt modelId="{7E594ED1-A601-4B8B-80E9-8D12000F4EEF}" type="pres">
      <dgm:prSet presAssocID="{1EF3948E-E47A-41B2-974F-0445F98666DD}" presName="linNode" presStyleCnt="0"/>
      <dgm:spPr/>
    </dgm:pt>
    <dgm:pt modelId="{CD71ECD7-5FD8-4D14-BCB6-EC760F512B0E}" type="pres">
      <dgm:prSet presAssocID="{1EF3948E-E47A-41B2-974F-0445F98666DD}" presName="parentText" presStyleLbl="solidFgAcc1" presStyleIdx="4" presStyleCnt="5">
        <dgm:presLayoutVars>
          <dgm:chMax val="1"/>
          <dgm:bulletEnabled/>
        </dgm:presLayoutVars>
      </dgm:prSet>
      <dgm:spPr/>
    </dgm:pt>
    <dgm:pt modelId="{3CE6AA5B-6255-4ECB-A295-B046F531BB79}" type="pres">
      <dgm:prSet presAssocID="{1EF3948E-E47A-41B2-974F-0445F98666DD}" presName="descendantText" presStyleLbl="alignNode1" presStyleIdx="4" presStyleCnt="5">
        <dgm:presLayoutVars>
          <dgm:bulletEnabled/>
        </dgm:presLayoutVars>
      </dgm:prSet>
      <dgm:spPr/>
    </dgm:pt>
  </dgm:ptLst>
  <dgm:cxnLst>
    <dgm:cxn modelId="{F83E280A-D342-4F63-ADC7-610942803116}" type="presOf" srcId="{19819B15-FEC9-4D72-B219-344784681732}" destId="{DCE80F8F-5CDF-4A9E-9DC0-1E85317253E6}" srcOrd="0" destOrd="0" presId="urn:microsoft.com/office/officeart/2016/7/layout/VerticalHollowActionList"/>
    <dgm:cxn modelId="{48CA870B-9C41-4993-995A-F4B069ACB8B1}" type="presOf" srcId="{1EF3948E-E47A-41B2-974F-0445F98666DD}" destId="{CD71ECD7-5FD8-4D14-BCB6-EC760F512B0E}" srcOrd="0" destOrd="0" presId="urn:microsoft.com/office/officeart/2016/7/layout/VerticalHollowActionList"/>
    <dgm:cxn modelId="{A9DDF316-4D1E-4A78-B4A6-DB60C2845948}" srcId="{D9F9E717-CB47-43D5-9B7F-B2FF48F22496}" destId="{1EF3948E-E47A-41B2-974F-0445F98666DD}" srcOrd="4" destOrd="0" parTransId="{80B723BA-1D6D-43FE-A10F-FA6522AEFB97}" sibTransId="{F962E9A4-132C-4A09-99E6-C3E0F2DA99C7}"/>
    <dgm:cxn modelId="{427D0628-7C44-446E-9AB8-4BD8A671E97A}" srcId="{3615D29C-296E-4953-9999-D5DD6A12ECDB}" destId="{F952A53A-B961-4C79-A050-641E45E424CB}" srcOrd="0" destOrd="0" parTransId="{11FEA9F5-F779-431E-9FC4-C1536738BA6D}" sibTransId="{75DF6194-A442-4F08-9510-2219BAC5C84A}"/>
    <dgm:cxn modelId="{9CE58D2B-98DD-40A4-A919-511F7580E339}" srcId="{D9F9E717-CB47-43D5-9B7F-B2FF48F22496}" destId="{0576C323-D300-4D84-B369-E1A49B06EB0D}" srcOrd="1" destOrd="0" parTransId="{14BFA4E1-0186-4684-9A24-8FCBE54982A9}" sibTransId="{E89927DE-969A-47C7-A5E8-FB1AC9E793FF}"/>
    <dgm:cxn modelId="{A361E335-59C9-4B2D-ADE3-E08D195A1558}" srcId="{19819B15-FEC9-4D72-B219-344784681732}" destId="{C06F37BC-9A25-4B8B-B6DC-1D935E0E2701}" srcOrd="0" destOrd="0" parTransId="{FD55F2A9-AD62-4CA2-8FB4-9DF42F73064F}" sibTransId="{7BE04454-35B1-4E8F-BE54-ABF60370D869}"/>
    <dgm:cxn modelId="{D180E240-A21B-4EA3-891E-B978F9C7C6EF}" type="presOf" srcId="{4E9FD449-B8BE-4E8A-96E8-7A569DF515C2}" destId="{3B410EEA-D8A5-41F1-8692-C438169DE2B0}" srcOrd="0" destOrd="0" presId="urn:microsoft.com/office/officeart/2016/7/layout/VerticalHollowActionList"/>
    <dgm:cxn modelId="{4480705E-7B18-4D11-BA7F-B20C47AD7994}" type="presOf" srcId="{F952A53A-B961-4C79-A050-641E45E424CB}" destId="{5DC57578-1E83-4D33-82AE-65627FF2C8E5}" srcOrd="0" destOrd="0" presId="urn:microsoft.com/office/officeart/2016/7/layout/VerticalHollowActionList"/>
    <dgm:cxn modelId="{CBC2D44B-1284-4833-B561-7614ADE86C7E}" srcId="{3C9C98EB-9FE8-4511-97F9-AA2E2D61B2AB}" destId="{4E9FD449-B8BE-4E8A-96E8-7A569DF515C2}" srcOrd="0" destOrd="0" parTransId="{A23FCF21-824D-4831-AD83-8C5EA22B846C}" sibTransId="{16E9B5F5-13FC-4651-BC2E-8345EBAF2D49}"/>
    <dgm:cxn modelId="{4BF7256C-956B-4FD4-A28D-2CE30D46C652}" type="presOf" srcId="{D9F9E717-CB47-43D5-9B7F-B2FF48F22496}" destId="{E06A68F7-FF6F-4C3A-A65D-55544564E9B9}" srcOrd="0" destOrd="0" presId="urn:microsoft.com/office/officeart/2016/7/layout/VerticalHollowActionList"/>
    <dgm:cxn modelId="{3F817473-868F-453E-9531-8760BB63DD72}" srcId="{D9F9E717-CB47-43D5-9B7F-B2FF48F22496}" destId="{3615D29C-296E-4953-9999-D5DD6A12ECDB}" srcOrd="0" destOrd="0" parTransId="{AA13537E-6855-4073-AA15-FD154BC57A77}" sibTransId="{7C8A4FF7-7C1A-4961-8E18-82BF9E00B16B}"/>
    <dgm:cxn modelId="{E9761F54-53CE-4E23-824C-B136D43A7D81}" type="presOf" srcId="{0576C323-D300-4D84-B369-E1A49B06EB0D}" destId="{505E7FFC-C20D-4325-AB11-583A43ED7A3E}" srcOrd="0" destOrd="0" presId="urn:microsoft.com/office/officeart/2016/7/layout/VerticalHollowActionList"/>
    <dgm:cxn modelId="{FA7B9196-05BA-47BA-92CE-C1E6D5A1EDF8}" srcId="{D9F9E717-CB47-43D5-9B7F-B2FF48F22496}" destId="{19819B15-FEC9-4D72-B219-344784681732}" srcOrd="3" destOrd="0" parTransId="{DF5E8311-7BBA-4085-AB0D-6C7DF6001547}" sibTransId="{B0A4B493-A037-4165-830F-4743640CECE6}"/>
    <dgm:cxn modelId="{FE1240A3-F84E-4B43-AAEB-80517194CD40}" type="presOf" srcId="{3615D29C-296E-4953-9999-D5DD6A12ECDB}" destId="{826C3838-D3E3-44A6-96D4-6A5D32348E8E}" srcOrd="0" destOrd="0" presId="urn:microsoft.com/office/officeart/2016/7/layout/VerticalHollowActionList"/>
    <dgm:cxn modelId="{50F8AEA4-1797-4BE2-8FC8-8686F59797E2}" type="presOf" srcId="{C06F37BC-9A25-4B8B-B6DC-1D935E0E2701}" destId="{E505CFB2-CE55-4BC1-9796-8073719FE792}" srcOrd="0" destOrd="0" presId="urn:microsoft.com/office/officeart/2016/7/layout/VerticalHollowActionList"/>
    <dgm:cxn modelId="{001832AC-4083-480D-B72B-14FC5D12D62A}" type="presOf" srcId="{D49EEEFE-B0FC-4F70-BF65-00C94D5279D6}" destId="{3CE6AA5B-6255-4ECB-A295-B046F531BB79}" srcOrd="0" destOrd="0" presId="urn:microsoft.com/office/officeart/2016/7/layout/VerticalHollowActionList"/>
    <dgm:cxn modelId="{FA25C0B6-7E51-4601-A2C2-D172EF8A16CE}" srcId="{1EF3948E-E47A-41B2-974F-0445F98666DD}" destId="{D49EEEFE-B0FC-4F70-BF65-00C94D5279D6}" srcOrd="0" destOrd="0" parTransId="{3AE13522-93C9-413A-9532-4A968CD1552C}" sibTransId="{BC93ECEF-E50E-46B4-9A89-61311937D60F}"/>
    <dgm:cxn modelId="{34664BB9-2153-427D-B52D-998A2008B24B}" srcId="{0576C323-D300-4D84-B369-E1A49B06EB0D}" destId="{9AD13B30-4BA8-460B-9B59-E4D857C7F61A}" srcOrd="0" destOrd="0" parTransId="{2BB41E53-F43D-4C92-AA70-FBC77F7D430F}" sibTransId="{368D6622-EACA-4DBC-94D8-3BF74C3DB60C}"/>
    <dgm:cxn modelId="{125E69C6-B1BC-4821-8725-1B68B9FB6684}" type="presOf" srcId="{3C9C98EB-9FE8-4511-97F9-AA2E2D61B2AB}" destId="{462B3EFC-89AA-40A1-BE2C-50DC3AEF48F9}" srcOrd="0" destOrd="0" presId="urn:microsoft.com/office/officeart/2016/7/layout/VerticalHollowActionList"/>
    <dgm:cxn modelId="{EE12B0E0-9C69-4137-82EE-9DCD493AD5E3}" srcId="{D9F9E717-CB47-43D5-9B7F-B2FF48F22496}" destId="{3C9C98EB-9FE8-4511-97F9-AA2E2D61B2AB}" srcOrd="2" destOrd="0" parTransId="{52B47E5B-11A2-48FE-8FD8-E0DD11FA4861}" sibTransId="{01D76392-0F48-4488-93BB-4D78A5CEA5A9}"/>
    <dgm:cxn modelId="{A62AD9EF-EB31-4BED-A8C4-23DB8DBB8188}" type="presOf" srcId="{9AD13B30-4BA8-460B-9B59-E4D857C7F61A}" destId="{44A315B4-F972-41A1-A98B-2A79D056D0E7}" srcOrd="0" destOrd="0" presId="urn:microsoft.com/office/officeart/2016/7/layout/VerticalHollowActionList"/>
    <dgm:cxn modelId="{8ECAE4FF-EFCF-4C26-96F2-283B88076622}" type="presParOf" srcId="{E06A68F7-FF6F-4C3A-A65D-55544564E9B9}" destId="{A65DA7C3-782B-4FB1-AFC3-FBFC08BE70CD}" srcOrd="0" destOrd="0" presId="urn:microsoft.com/office/officeart/2016/7/layout/VerticalHollowActionList"/>
    <dgm:cxn modelId="{6BCEC3CC-B23B-41A2-807F-A6A04110941A}" type="presParOf" srcId="{A65DA7C3-782B-4FB1-AFC3-FBFC08BE70CD}" destId="{826C3838-D3E3-44A6-96D4-6A5D32348E8E}" srcOrd="0" destOrd="0" presId="urn:microsoft.com/office/officeart/2016/7/layout/VerticalHollowActionList"/>
    <dgm:cxn modelId="{597B986C-CE8D-4D8A-9D62-7F8D0B4094D3}" type="presParOf" srcId="{A65DA7C3-782B-4FB1-AFC3-FBFC08BE70CD}" destId="{5DC57578-1E83-4D33-82AE-65627FF2C8E5}" srcOrd="1" destOrd="0" presId="urn:microsoft.com/office/officeart/2016/7/layout/VerticalHollowActionList"/>
    <dgm:cxn modelId="{6ECE7DB4-822F-4CBF-BBAE-D566089B8AE8}" type="presParOf" srcId="{E06A68F7-FF6F-4C3A-A65D-55544564E9B9}" destId="{2CEABBC4-20DA-4DE0-AD35-E8EFB92669D3}" srcOrd="1" destOrd="0" presId="urn:microsoft.com/office/officeart/2016/7/layout/VerticalHollowActionList"/>
    <dgm:cxn modelId="{BE795122-F0F3-4F36-8FC9-0C7659ED1ADE}" type="presParOf" srcId="{E06A68F7-FF6F-4C3A-A65D-55544564E9B9}" destId="{D4E26F6F-6A5D-4F22-8A29-CB0C140E39F4}" srcOrd="2" destOrd="0" presId="urn:microsoft.com/office/officeart/2016/7/layout/VerticalHollowActionList"/>
    <dgm:cxn modelId="{DE3E5A15-E45E-4B72-BA40-B9EF160DD2B0}" type="presParOf" srcId="{D4E26F6F-6A5D-4F22-8A29-CB0C140E39F4}" destId="{505E7FFC-C20D-4325-AB11-583A43ED7A3E}" srcOrd="0" destOrd="0" presId="urn:microsoft.com/office/officeart/2016/7/layout/VerticalHollowActionList"/>
    <dgm:cxn modelId="{E6EC121C-E124-4FB4-B62E-3F7B6C7AC4C0}" type="presParOf" srcId="{D4E26F6F-6A5D-4F22-8A29-CB0C140E39F4}" destId="{44A315B4-F972-41A1-A98B-2A79D056D0E7}" srcOrd="1" destOrd="0" presId="urn:microsoft.com/office/officeart/2016/7/layout/VerticalHollowActionList"/>
    <dgm:cxn modelId="{AC0B1097-62A1-444B-A3DB-E5C5991D0BD5}" type="presParOf" srcId="{E06A68F7-FF6F-4C3A-A65D-55544564E9B9}" destId="{F16E51A4-88B7-43C8-9EE3-94E63F3ED88D}" srcOrd="3" destOrd="0" presId="urn:microsoft.com/office/officeart/2016/7/layout/VerticalHollowActionList"/>
    <dgm:cxn modelId="{7CBEE882-86B8-4B5B-8408-14792BBC0155}" type="presParOf" srcId="{E06A68F7-FF6F-4C3A-A65D-55544564E9B9}" destId="{750F1BD6-D2D2-4D0D-AFFD-51E85604F285}" srcOrd="4" destOrd="0" presId="urn:microsoft.com/office/officeart/2016/7/layout/VerticalHollowActionList"/>
    <dgm:cxn modelId="{B00D79E0-56DE-45CF-BE0B-3BDC66BCF0CF}" type="presParOf" srcId="{750F1BD6-D2D2-4D0D-AFFD-51E85604F285}" destId="{462B3EFC-89AA-40A1-BE2C-50DC3AEF48F9}" srcOrd="0" destOrd="0" presId="urn:microsoft.com/office/officeart/2016/7/layout/VerticalHollowActionList"/>
    <dgm:cxn modelId="{4849A8D7-19F0-4F03-B94A-44A87051C30C}" type="presParOf" srcId="{750F1BD6-D2D2-4D0D-AFFD-51E85604F285}" destId="{3B410EEA-D8A5-41F1-8692-C438169DE2B0}" srcOrd="1" destOrd="0" presId="urn:microsoft.com/office/officeart/2016/7/layout/VerticalHollowActionList"/>
    <dgm:cxn modelId="{B286DA5F-7AA5-4BAA-BA2C-22992CE5E60D}" type="presParOf" srcId="{E06A68F7-FF6F-4C3A-A65D-55544564E9B9}" destId="{306448CB-FD13-4D7C-AF74-EC46C26B8081}" srcOrd="5" destOrd="0" presId="urn:microsoft.com/office/officeart/2016/7/layout/VerticalHollowActionList"/>
    <dgm:cxn modelId="{B6308B38-D139-4B55-8E29-D544AD3C73AE}" type="presParOf" srcId="{E06A68F7-FF6F-4C3A-A65D-55544564E9B9}" destId="{B1885D24-5D16-43B0-889E-4A4B7FA276BF}" srcOrd="6" destOrd="0" presId="urn:microsoft.com/office/officeart/2016/7/layout/VerticalHollowActionList"/>
    <dgm:cxn modelId="{A4374EC3-0372-4C20-AF62-30E71B8751CA}" type="presParOf" srcId="{B1885D24-5D16-43B0-889E-4A4B7FA276BF}" destId="{DCE80F8F-5CDF-4A9E-9DC0-1E85317253E6}" srcOrd="0" destOrd="0" presId="urn:microsoft.com/office/officeart/2016/7/layout/VerticalHollowActionList"/>
    <dgm:cxn modelId="{F5D050E0-6A6D-4162-A3D2-D67ABD32A37A}" type="presParOf" srcId="{B1885D24-5D16-43B0-889E-4A4B7FA276BF}" destId="{E505CFB2-CE55-4BC1-9796-8073719FE792}" srcOrd="1" destOrd="0" presId="urn:microsoft.com/office/officeart/2016/7/layout/VerticalHollowActionList"/>
    <dgm:cxn modelId="{7A5EFB4C-EEF9-4A4F-BF0E-5CDB9DD1D991}" type="presParOf" srcId="{E06A68F7-FF6F-4C3A-A65D-55544564E9B9}" destId="{15A29E31-2BDB-4423-B3EF-7CD488B23FDC}" srcOrd="7" destOrd="0" presId="urn:microsoft.com/office/officeart/2016/7/layout/VerticalHollowActionList"/>
    <dgm:cxn modelId="{9BCDCC0F-822A-4D01-9921-0B7222550DA2}" type="presParOf" srcId="{E06A68F7-FF6F-4C3A-A65D-55544564E9B9}" destId="{7E594ED1-A601-4B8B-80E9-8D12000F4EEF}" srcOrd="8" destOrd="0" presId="urn:microsoft.com/office/officeart/2016/7/layout/VerticalHollowActionList"/>
    <dgm:cxn modelId="{0EA24396-B6C2-4885-91D8-8DE483FB85C8}" type="presParOf" srcId="{7E594ED1-A601-4B8B-80E9-8D12000F4EEF}" destId="{CD71ECD7-5FD8-4D14-BCB6-EC760F512B0E}" srcOrd="0" destOrd="0" presId="urn:microsoft.com/office/officeart/2016/7/layout/VerticalHollowActionList"/>
    <dgm:cxn modelId="{B9548B81-7596-4714-A2BF-30811C8B0F5C}" type="presParOf" srcId="{7E594ED1-A601-4B8B-80E9-8D12000F4EEF}" destId="{3CE6AA5B-6255-4ECB-A295-B046F531BB79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C373998-93EF-42BC-89CB-9A887FCA330B}" type="doc">
      <dgm:prSet loTypeId="urn:microsoft.com/office/officeart/2005/8/layout/vList2" loCatId="list" qsTypeId="urn:microsoft.com/office/officeart/2005/8/quickstyle/simple1" qsCatId="simple" csTypeId="urn:microsoft.com/office/officeart/2005/8/colors/accent6_3" csCatId="accent6"/>
      <dgm:spPr/>
      <dgm:t>
        <a:bodyPr/>
        <a:lstStyle/>
        <a:p>
          <a:endParaRPr lang="en-US"/>
        </a:p>
      </dgm:t>
    </dgm:pt>
    <dgm:pt modelId="{DBC83574-E7A0-4871-A54A-3BC832309BBF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Successfully translated field observations from </a:t>
          </a:r>
          <a:r>
            <a:rPr lang="en-US" b="1">
              <a:latin typeface="Times New Roman"/>
              <a:cs typeface="Times New Roman"/>
            </a:rPr>
            <a:t>54 retail outlets</a:t>
          </a:r>
          <a:r>
            <a:rPr lang="en-US">
              <a:latin typeface="Times New Roman"/>
              <a:cs typeface="Times New Roman"/>
            </a:rPr>
            <a:t> into a structured outlet evaluation framework. </a:t>
          </a:r>
        </a:p>
      </dgm:t>
    </dgm:pt>
    <dgm:pt modelId="{1AC19FBC-13F1-45A8-9D89-E5B62CF959E2}" type="parTrans" cxnId="{0A6A4AC9-28DE-4515-9002-1F57F7C87CEB}">
      <dgm:prSet/>
      <dgm:spPr/>
      <dgm:t>
        <a:bodyPr/>
        <a:lstStyle/>
        <a:p>
          <a:endParaRPr lang="en-US"/>
        </a:p>
      </dgm:t>
    </dgm:pt>
    <dgm:pt modelId="{B31DB323-8EBF-48E7-8059-6D49A8A56502}" type="sibTrans" cxnId="{0A6A4AC9-28DE-4515-9002-1F57F7C87CEB}">
      <dgm:prSet/>
      <dgm:spPr/>
      <dgm:t>
        <a:bodyPr/>
        <a:lstStyle/>
        <a:p>
          <a:endParaRPr lang="en-US"/>
        </a:p>
      </dgm:t>
    </dgm:pt>
    <dgm:pt modelId="{8E7CE871-11DA-4A81-AF56-E68A7AC349BB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Identified execution gaps by assessing key retail parameters, including visibility, rack health, assortment, stock availability, footfall, and competitor presence. </a:t>
          </a:r>
        </a:p>
      </dgm:t>
    </dgm:pt>
    <dgm:pt modelId="{6DB6F0C5-C0BC-4EDF-A230-C713D7747BF1}" type="parTrans" cxnId="{5B199FAD-12EC-461D-A6C3-9EE06B57ED1E}">
      <dgm:prSet/>
      <dgm:spPr/>
      <dgm:t>
        <a:bodyPr/>
        <a:lstStyle/>
        <a:p>
          <a:endParaRPr lang="en-US"/>
        </a:p>
      </dgm:t>
    </dgm:pt>
    <dgm:pt modelId="{6C81B4D0-CB5D-4C5E-8165-A29D139EAF2F}" type="sibTrans" cxnId="{5B199FAD-12EC-461D-A6C3-9EE06B57ED1E}">
      <dgm:prSet/>
      <dgm:spPr/>
      <dgm:t>
        <a:bodyPr/>
        <a:lstStyle/>
        <a:p>
          <a:endParaRPr lang="en-US"/>
        </a:p>
      </dgm:t>
    </dgm:pt>
    <dgm:pt modelId="{5719F9D1-BB4B-46C0-A910-8AE5430C34C4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Demonstrated that outlet prioritization should be based on execution quality and business potential rather than routine market coverage alone. </a:t>
          </a:r>
        </a:p>
      </dgm:t>
    </dgm:pt>
    <dgm:pt modelId="{B1B10BB0-8BA8-4EDA-AC42-B5FC3C9A3EBA}" type="parTrans" cxnId="{D829B16F-9B7B-4ECB-8D74-661FA01ACBE8}">
      <dgm:prSet/>
      <dgm:spPr/>
      <dgm:t>
        <a:bodyPr/>
        <a:lstStyle/>
        <a:p>
          <a:endParaRPr lang="en-US"/>
        </a:p>
      </dgm:t>
    </dgm:pt>
    <dgm:pt modelId="{64273188-8851-4C7F-8383-8AEFED08CCED}" type="sibTrans" cxnId="{D829B16F-9B7B-4ECB-8D74-661FA01ACBE8}">
      <dgm:prSet/>
      <dgm:spPr/>
      <dgm:t>
        <a:bodyPr/>
        <a:lstStyle/>
        <a:p>
          <a:endParaRPr lang="en-US"/>
        </a:p>
      </dgm:t>
    </dgm:pt>
    <dgm:pt modelId="{1725D1A4-08DC-4682-B879-C35B2CEA32DD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Proposed an </a:t>
          </a:r>
          <a:r>
            <a:rPr lang="en-US" b="1">
              <a:latin typeface="Times New Roman"/>
              <a:cs typeface="Times New Roman"/>
            </a:rPr>
            <a:t>AI-assisted Outlet Data Entry &amp; Outlet Scoring System</a:t>
          </a:r>
          <a:r>
            <a:rPr lang="en-US">
              <a:latin typeface="Times New Roman"/>
              <a:cs typeface="Times New Roman"/>
            </a:rPr>
            <a:t> to standardize outlet assessment and support objective, data-driven decision-making. </a:t>
          </a:r>
        </a:p>
      </dgm:t>
    </dgm:pt>
    <dgm:pt modelId="{54433E08-FBB2-4ADB-90AE-8584BE159629}" type="parTrans" cxnId="{B58DE605-0240-4721-A6EA-51F5C30280C0}">
      <dgm:prSet/>
      <dgm:spPr/>
      <dgm:t>
        <a:bodyPr/>
        <a:lstStyle/>
        <a:p>
          <a:endParaRPr lang="en-US"/>
        </a:p>
      </dgm:t>
    </dgm:pt>
    <dgm:pt modelId="{C6A0FE10-6BD1-4FCA-9338-02D0FBD0E1C0}" type="sibTrans" cxnId="{B58DE605-0240-4721-A6EA-51F5C30280C0}">
      <dgm:prSet/>
      <dgm:spPr/>
      <dgm:t>
        <a:bodyPr/>
        <a:lstStyle/>
        <a:p>
          <a:endParaRPr lang="en-US"/>
        </a:p>
      </dgm:t>
    </dgm:pt>
    <dgm:pt modelId="{3E0DC771-F9E8-4157-A4EA-9F5F75ACC117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Established a practical approach that combines field intelligence, retail analytics, and AI to strengthen </a:t>
          </a:r>
          <a:r>
            <a:rPr lang="en-US" dirty="0" err="1">
              <a:latin typeface="Times New Roman"/>
              <a:cs typeface="Times New Roman"/>
            </a:rPr>
            <a:t>Bingo!'s</a:t>
          </a:r>
          <a:r>
            <a:rPr lang="en-US" dirty="0">
              <a:latin typeface="Times New Roman"/>
              <a:cs typeface="Times New Roman"/>
            </a:rPr>
            <a:t> retail execution and identify high-potential growth opportunities.</a:t>
          </a:r>
        </a:p>
      </dgm:t>
    </dgm:pt>
    <dgm:pt modelId="{87280D0A-4A05-4011-9C3D-06EFA1D9CD77}" type="parTrans" cxnId="{E8CEFD6C-9598-4BA9-9352-D08869664B79}">
      <dgm:prSet/>
      <dgm:spPr/>
      <dgm:t>
        <a:bodyPr/>
        <a:lstStyle/>
        <a:p>
          <a:endParaRPr lang="en-US"/>
        </a:p>
      </dgm:t>
    </dgm:pt>
    <dgm:pt modelId="{9DEE9CF9-B41F-4161-AFF2-86D25F0D8FA8}" type="sibTrans" cxnId="{E8CEFD6C-9598-4BA9-9352-D08869664B79}">
      <dgm:prSet/>
      <dgm:spPr/>
      <dgm:t>
        <a:bodyPr/>
        <a:lstStyle/>
        <a:p>
          <a:endParaRPr lang="en-US"/>
        </a:p>
      </dgm:t>
    </dgm:pt>
    <dgm:pt modelId="{D1C63E38-1375-4253-9D4F-EADCCB051702}" type="pres">
      <dgm:prSet presAssocID="{EC373998-93EF-42BC-89CB-9A887FCA330B}" presName="linear" presStyleCnt="0">
        <dgm:presLayoutVars>
          <dgm:animLvl val="lvl"/>
          <dgm:resizeHandles val="exact"/>
        </dgm:presLayoutVars>
      </dgm:prSet>
      <dgm:spPr/>
    </dgm:pt>
    <dgm:pt modelId="{52F94512-2265-48C4-88A6-DC9A55D0D7BF}" type="pres">
      <dgm:prSet presAssocID="{DBC83574-E7A0-4871-A54A-3BC832309BB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4CAF623-9002-4F7B-9A40-F93976340B30}" type="pres">
      <dgm:prSet presAssocID="{B31DB323-8EBF-48E7-8059-6D49A8A56502}" presName="spacer" presStyleCnt="0"/>
      <dgm:spPr/>
    </dgm:pt>
    <dgm:pt modelId="{4B1848D2-6D4F-4112-954A-1B0382514EC6}" type="pres">
      <dgm:prSet presAssocID="{8E7CE871-11DA-4A81-AF56-E68A7AC349B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8DB40B1-9770-49ED-89C3-EDE329305DCE}" type="pres">
      <dgm:prSet presAssocID="{6C81B4D0-CB5D-4C5E-8165-A29D139EAF2F}" presName="spacer" presStyleCnt="0"/>
      <dgm:spPr/>
    </dgm:pt>
    <dgm:pt modelId="{E767D620-4E1B-4C6D-9D59-A342F439DF02}" type="pres">
      <dgm:prSet presAssocID="{5719F9D1-BB4B-46C0-A910-8AE5430C34C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F2295FE-1EDD-46BE-9CBE-6DB810011FE2}" type="pres">
      <dgm:prSet presAssocID="{64273188-8851-4C7F-8383-8AEFED08CCED}" presName="spacer" presStyleCnt="0"/>
      <dgm:spPr/>
    </dgm:pt>
    <dgm:pt modelId="{F2F82B0D-A05E-488E-B1A1-C3E497CEFF7D}" type="pres">
      <dgm:prSet presAssocID="{1725D1A4-08DC-4682-B879-C35B2CEA32D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C77B385-7563-4384-9B11-5F5B03228987}" type="pres">
      <dgm:prSet presAssocID="{C6A0FE10-6BD1-4FCA-9338-02D0FBD0E1C0}" presName="spacer" presStyleCnt="0"/>
      <dgm:spPr/>
    </dgm:pt>
    <dgm:pt modelId="{2B5FA282-4B38-4DBB-AE8F-3C6DE6F01028}" type="pres">
      <dgm:prSet presAssocID="{3E0DC771-F9E8-4157-A4EA-9F5F75ACC11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81D9403-A2F4-4BF8-829E-0637F7AA643C}" type="presOf" srcId="{1725D1A4-08DC-4682-B879-C35B2CEA32DD}" destId="{F2F82B0D-A05E-488E-B1A1-C3E497CEFF7D}" srcOrd="0" destOrd="0" presId="urn:microsoft.com/office/officeart/2005/8/layout/vList2"/>
    <dgm:cxn modelId="{B58DE605-0240-4721-A6EA-51F5C30280C0}" srcId="{EC373998-93EF-42BC-89CB-9A887FCA330B}" destId="{1725D1A4-08DC-4682-B879-C35B2CEA32DD}" srcOrd="3" destOrd="0" parTransId="{54433E08-FBB2-4ADB-90AE-8584BE159629}" sibTransId="{C6A0FE10-6BD1-4FCA-9338-02D0FBD0E1C0}"/>
    <dgm:cxn modelId="{15C6671F-85CF-46CD-B8DC-EF38E04F4E19}" type="presOf" srcId="{3E0DC771-F9E8-4157-A4EA-9F5F75ACC117}" destId="{2B5FA282-4B38-4DBB-AE8F-3C6DE6F01028}" srcOrd="0" destOrd="0" presId="urn:microsoft.com/office/officeart/2005/8/layout/vList2"/>
    <dgm:cxn modelId="{DDAB4D49-593A-4846-9366-E9D793726545}" type="presOf" srcId="{8E7CE871-11DA-4A81-AF56-E68A7AC349BB}" destId="{4B1848D2-6D4F-4112-954A-1B0382514EC6}" srcOrd="0" destOrd="0" presId="urn:microsoft.com/office/officeart/2005/8/layout/vList2"/>
    <dgm:cxn modelId="{E8CEFD6C-9598-4BA9-9352-D08869664B79}" srcId="{EC373998-93EF-42BC-89CB-9A887FCA330B}" destId="{3E0DC771-F9E8-4157-A4EA-9F5F75ACC117}" srcOrd="4" destOrd="0" parTransId="{87280D0A-4A05-4011-9C3D-06EFA1D9CD77}" sibTransId="{9DEE9CF9-B41F-4161-AFF2-86D25F0D8FA8}"/>
    <dgm:cxn modelId="{D829B16F-9B7B-4ECB-8D74-661FA01ACBE8}" srcId="{EC373998-93EF-42BC-89CB-9A887FCA330B}" destId="{5719F9D1-BB4B-46C0-A910-8AE5430C34C4}" srcOrd="2" destOrd="0" parTransId="{B1B10BB0-8BA8-4EDA-AC42-B5FC3C9A3EBA}" sibTransId="{64273188-8851-4C7F-8383-8AEFED08CCED}"/>
    <dgm:cxn modelId="{29776B55-4415-49F0-AEA0-A4B2B25D020E}" type="presOf" srcId="{EC373998-93EF-42BC-89CB-9A887FCA330B}" destId="{D1C63E38-1375-4253-9D4F-EADCCB051702}" srcOrd="0" destOrd="0" presId="urn:microsoft.com/office/officeart/2005/8/layout/vList2"/>
    <dgm:cxn modelId="{5DF4E77F-BA7D-4DBB-870A-4CAA00EBDCF0}" type="presOf" srcId="{5719F9D1-BB4B-46C0-A910-8AE5430C34C4}" destId="{E767D620-4E1B-4C6D-9D59-A342F439DF02}" srcOrd="0" destOrd="0" presId="urn:microsoft.com/office/officeart/2005/8/layout/vList2"/>
    <dgm:cxn modelId="{792F37A8-CAD9-407C-9E03-3ADFFA5644FD}" type="presOf" srcId="{DBC83574-E7A0-4871-A54A-3BC832309BBF}" destId="{52F94512-2265-48C4-88A6-DC9A55D0D7BF}" srcOrd="0" destOrd="0" presId="urn:microsoft.com/office/officeart/2005/8/layout/vList2"/>
    <dgm:cxn modelId="{5B199FAD-12EC-461D-A6C3-9EE06B57ED1E}" srcId="{EC373998-93EF-42BC-89CB-9A887FCA330B}" destId="{8E7CE871-11DA-4A81-AF56-E68A7AC349BB}" srcOrd="1" destOrd="0" parTransId="{6DB6F0C5-C0BC-4EDF-A230-C713D7747BF1}" sibTransId="{6C81B4D0-CB5D-4C5E-8165-A29D139EAF2F}"/>
    <dgm:cxn modelId="{0A6A4AC9-28DE-4515-9002-1F57F7C87CEB}" srcId="{EC373998-93EF-42BC-89CB-9A887FCA330B}" destId="{DBC83574-E7A0-4871-A54A-3BC832309BBF}" srcOrd="0" destOrd="0" parTransId="{1AC19FBC-13F1-45A8-9D89-E5B62CF959E2}" sibTransId="{B31DB323-8EBF-48E7-8059-6D49A8A56502}"/>
    <dgm:cxn modelId="{4402FE7F-4CC7-4EA3-98BE-DCA6E8651F04}" type="presParOf" srcId="{D1C63E38-1375-4253-9D4F-EADCCB051702}" destId="{52F94512-2265-48C4-88A6-DC9A55D0D7BF}" srcOrd="0" destOrd="0" presId="urn:microsoft.com/office/officeart/2005/8/layout/vList2"/>
    <dgm:cxn modelId="{E58736E7-781A-45A9-981C-73C4AE1DB1E3}" type="presParOf" srcId="{D1C63E38-1375-4253-9D4F-EADCCB051702}" destId="{04CAF623-9002-4F7B-9A40-F93976340B30}" srcOrd="1" destOrd="0" presId="urn:microsoft.com/office/officeart/2005/8/layout/vList2"/>
    <dgm:cxn modelId="{D9F2DE20-3076-4BC4-B72A-457A49F51403}" type="presParOf" srcId="{D1C63E38-1375-4253-9D4F-EADCCB051702}" destId="{4B1848D2-6D4F-4112-954A-1B0382514EC6}" srcOrd="2" destOrd="0" presId="urn:microsoft.com/office/officeart/2005/8/layout/vList2"/>
    <dgm:cxn modelId="{00D79A7C-A8B1-43AF-9507-5FBA6C0DE4E6}" type="presParOf" srcId="{D1C63E38-1375-4253-9D4F-EADCCB051702}" destId="{28DB40B1-9770-49ED-89C3-EDE329305DCE}" srcOrd="3" destOrd="0" presId="urn:microsoft.com/office/officeart/2005/8/layout/vList2"/>
    <dgm:cxn modelId="{674000FB-42A2-46E8-8EC0-9223676706B7}" type="presParOf" srcId="{D1C63E38-1375-4253-9D4F-EADCCB051702}" destId="{E767D620-4E1B-4C6D-9D59-A342F439DF02}" srcOrd="4" destOrd="0" presId="urn:microsoft.com/office/officeart/2005/8/layout/vList2"/>
    <dgm:cxn modelId="{E77E0E10-CBC3-4121-BFD2-79FDE98DE7CD}" type="presParOf" srcId="{D1C63E38-1375-4253-9D4F-EADCCB051702}" destId="{FF2295FE-1EDD-46BE-9CBE-6DB810011FE2}" srcOrd="5" destOrd="0" presId="urn:microsoft.com/office/officeart/2005/8/layout/vList2"/>
    <dgm:cxn modelId="{FB426AA1-E24F-4B5C-9281-5924786D01C3}" type="presParOf" srcId="{D1C63E38-1375-4253-9D4F-EADCCB051702}" destId="{F2F82B0D-A05E-488E-B1A1-C3E497CEFF7D}" srcOrd="6" destOrd="0" presId="urn:microsoft.com/office/officeart/2005/8/layout/vList2"/>
    <dgm:cxn modelId="{1D88C11B-EBB8-419F-8178-703987A35244}" type="presParOf" srcId="{D1C63E38-1375-4253-9D4F-EADCCB051702}" destId="{1C77B385-7563-4384-9B11-5F5B03228987}" srcOrd="7" destOrd="0" presId="urn:microsoft.com/office/officeart/2005/8/layout/vList2"/>
    <dgm:cxn modelId="{D7DDB8CA-6275-4C67-8F3D-748ECB9E4DDC}" type="presParOf" srcId="{D1C63E38-1375-4253-9D4F-EADCCB051702}" destId="{2B5FA282-4B38-4DBB-AE8F-3C6DE6F0102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27EA2-E063-4084-898D-58DF49A79C6E}">
      <dsp:nvSpPr>
        <dsp:cNvPr id="0" name=""/>
        <dsp:cNvSpPr/>
      </dsp:nvSpPr>
      <dsp:spPr>
        <a:xfrm>
          <a:off x="0" y="881"/>
          <a:ext cx="5917554" cy="2088440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/>
              <a:cs typeface="Times New Roman"/>
            </a:rPr>
            <a:t>Business Context</a:t>
          </a:r>
          <a:r>
            <a:rPr lang="en-US" sz="2000" kern="1200" dirty="0">
              <a:latin typeface="Times New Roman"/>
              <a:cs typeface="Times New Roman"/>
            </a:rPr>
            <a:t>-The East Delhi market is highly competitive, where product visibility, outlet coverage, and retail executio</a:t>
          </a:r>
          <a:r>
            <a:rPr lang="en-US" sz="1900" kern="1200" dirty="0">
              <a:latin typeface="Times New Roman"/>
              <a:cs typeface="Times New Roman"/>
            </a:rPr>
            <a:t>n significantly influence consumer purchase decisions. Maintaining a strong in-store presence is essential for sustaining the competitiveness of the Bingo! snacks portfolio.</a:t>
          </a:r>
        </a:p>
      </dsp:txBody>
      <dsp:txXfrm>
        <a:off x="101949" y="102830"/>
        <a:ext cx="5713656" cy="1884542"/>
      </dsp:txXfrm>
    </dsp:sp>
    <dsp:sp modelId="{DB31CDF7-E478-49F9-ADF3-F3D21A7A45E2}">
      <dsp:nvSpPr>
        <dsp:cNvPr id="0" name=""/>
        <dsp:cNvSpPr/>
      </dsp:nvSpPr>
      <dsp:spPr>
        <a:xfrm>
          <a:off x="0" y="2103651"/>
          <a:ext cx="5917554" cy="2088440"/>
        </a:xfrm>
        <a:prstGeom prst="roundRect">
          <a:avLst/>
        </a:prstGeom>
        <a:solidFill>
          <a:schemeClr val="accent6">
            <a:shade val="50000"/>
            <a:hueOff val="79540"/>
            <a:satOff val="11433"/>
            <a:lumOff val="268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 New Roman"/>
              <a:cs typeface="Times New Roman"/>
            </a:rPr>
            <a:t>Project Insight</a:t>
          </a:r>
          <a:r>
            <a:rPr lang="en-US" sz="1900" b="0" kern="1200" dirty="0">
              <a:latin typeface="Times New Roman"/>
              <a:cs typeface="Times New Roman"/>
            </a:rPr>
            <a:t>-During</a:t>
          </a:r>
          <a:r>
            <a:rPr lang="en-US" sz="1900" kern="1200" dirty="0">
              <a:latin typeface="Times New Roman"/>
              <a:cs typeface="Times New Roman"/>
            </a:rPr>
            <a:t> regular market visits, I observed that retail outlets varied considerably in terms of rack health, visibility, assortment, stock availability, and competitor presence. These observations led to the development of a structured outlet database to identify high-potential outlets and recommend improvements in retail execution.</a:t>
          </a:r>
        </a:p>
      </dsp:txBody>
      <dsp:txXfrm>
        <a:off x="101949" y="2205600"/>
        <a:ext cx="5713656" cy="1884542"/>
      </dsp:txXfrm>
    </dsp:sp>
    <dsp:sp modelId="{AF75728D-CC99-4F39-A919-FC01C5675DE8}">
      <dsp:nvSpPr>
        <dsp:cNvPr id="0" name=""/>
        <dsp:cNvSpPr/>
      </dsp:nvSpPr>
      <dsp:spPr>
        <a:xfrm>
          <a:off x="0" y="4206421"/>
          <a:ext cx="5917554" cy="2088440"/>
        </a:xfrm>
        <a:prstGeom prst="roundRect">
          <a:avLst/>
        </a:prstGeom>
        <a:solidFill>
          <a:schemeClr val="accent6">
            <a:shade val="50000"/>
            <a:hueOff val="79540"/>
            <a:satOff val="11433"/>
            <a:lumOff val="268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 New Roman"/>
              <a:cs typeface="Times New Roman"/>
            </a:rPr>
            <a:t>Project Assignment- </a:t>
          </a:r>
          <a:r>
            <a:rPr lang="en-US" sz="1900" kern="1200" dirty="0">
              <a:latin typeface="Times New Roman"/>
              <a:cs typeface="Times New Roman"/>
            </a:rPr>
            <a:t>As part of the internship, I was assigned to: </a:t>
          </a:r>
          <a:br>
            <a:rPr lang="en-US" sz="1900" kern="1200" dirty="0">
              <a:latin typeface="Times New Roman"/>
              <a:cs typeface="Times New Roman"/>
            </a:rPr>
          </a:br>
          <a:r>
            <a:rPr lang="en-US" sz="1900" kern="1200" dirty="0">
              <a:latin typeface="Times New Roman"/>
              <a:cs typeface="Times New Roman"/>
            </a:rPr>
            <a:t>Improve Bingo! visibility across retail outlets. </a:t>
          </a:r>
          <a:br>
            <a:rPr lang="en-US" sz="1900" kern="1200" dirty="0">
              <a:latin typeface="Times New Roman"/>
              <a:cs typeface="Times New Roman"/>
            </a:rPr>
          </a:br>
          <a:r>
            <a:rPr lang="en-US" sz="1900" kern="1200" dirty="0">
              <a:latin typeface="Times New Roman"/>
              <a:cs typeface="Times New Roman"/>
            </a:rPr>
            <a:t>Ensure targeted SKU billing (₹2,500+ per outlet. </a:t>
          </a:r>
          <a:br>
            <a:rPr lang="en-US" sz="1900" kern="1200" dirty="0">
              <a:latin typeface="Times New Roman"/>
              <a:cs typeface="Times New Roman"/>
            </a:rPr>
          </a:br>
          <a:r>
            <a:rPr lang="en-US" sz="1900" kern="1200" dirty="0">
              <a:latin typeface="Times New Roman"/>
              <a:cs typeface="Times New Roman"/>
            </a:rPr>
            <a:t>Monitor merchandising and rack execution. </a:t>
          </a:r>
          <a:br>
            <a:rPr lang="en-US" sz="1900" kern="1200" dirty="0">
              <a:latin typeface="Times New Roman"/>
              <a:cs typeface="Times New Roman"/>
            </a:rPr>
          </a:br>
          <a:r>
            <a:rPr lang="en-US" sz="1900" kern="1200" dirty="0">
              <a:latin typeface="Times New Roman"/>
              <a:cs typeface="Times New Roman"/>
            </a:rPr>
            <a:t>Benchmark competitor presence, assortment, </a:t>
          </a:r>
          <a:r>
            <a:rPr lang="en-US" sz="1900" kern="1200" dirty="0" err="1">
              <a:latin typeface="Times New Roman"/>
              <a:cs typeface="Times New Roman"/>
            </a:rPr>
            <a:t>andpromotional</a:t>
          </a:r>
          <a:r>
            <a:rPr lang="en-US" sz="1900" kern="1200" dirty="0">
              <a:latin typeface="Times New Roman"/>
              <a:cs typeface="Times New Roman"/>
            </a:rPr>
            <a:t> activities. </a:t>
          </a:r>
        </a:p>
      </dsp:txBody>
      <dsp:txXfrm>
        <a:off x="101949" y="4308370"/>
        <a:ext cx="5713656" cy="18845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03493-683F-4E14-BDF1-E0DE6A716F5F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understand retail execution practices and merchandising standards for the Bingo! portfolio in the East Delhi market. </a:t>
          </a:r>
        </a:p>
      </dsp:txBody>
      <dsp:txXfrm>
        <a:off x="0" y="39687"/>
        <a:ext cx="3286125" cy="1971675"/>
      </dsp:txXfrm>
    </dsp:sp>
    <dsp:sp modelId="{33E4EF18-EB0C-4017-B45E-8B0EADBBFDE6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6">
            <a:shade val="50000"/>
            <a:hueOff val="47724"/>
            <a:satOff val="6860"/>
            <a:lumOff val="161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conduct structured field observations and develop a comprehensive outlet-level database. </a:t>
          </a:r>
        </a:p>
      </dsp:txBody>
      <dsp:txXfrm>
        <a:off x="3614737" y="39687"/>
        <a:ext cx="3286125" cy="1971675"/>
      </dsp:txXfrm>
    </dsp:sp>
    <dsp:sp modelId="{BA48E8B5-09B7-4BE0-9199-FE27460F0B72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6">
            <a:shade val="50000"/>
            <a:hueOff val="95448"/>
            <a:satOff val="13719"/>
            <a:lumOff val="322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evaluate retail outlets using key execution parameters such as visibility, assortment, rack health, stock availability, footfall, and competitor presence. </a:t>
          </a:r>
        </a:p>
      </dsp:txBody>
      <dsp:txXfrm>
        <a:off x="7229475" y="39687"/>
        <a:ext cx="3286125" cy="1971675"/>
      </dsp:txXfrm>
    </dsp:sp>
    <dsp:sp modelId="{15938D84-8CD4-4715-B5EE-6001B051DF32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6">
            <a:shade val="50000"/>
            <a:hueOff val="95448"/>
            <a:satOff val="13719"/>
            <a:lumOff val="322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identify high-potential outlets with opportunities for improving retail execution and business performance. </a:t>
          </a:r>
        </a:p>
      </dsp:txBody>
      <dsp:txXfrm>
        <a:off x="1807368" y="2339975"/>
        <a:ext cx="3286125" cy="1971675"/>
      </dsp:txXfrm>
    </dsp:sp>
    <dsp:sp modelId="{F1D133C7-6776-48F1-A231-0723F8AE5875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6">
            <a:shade val="50000"/>
            <a:hueOff val="47724"/>
            <a:satOff val="6860"/>
            <a:lumOff val="161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recommend data-driven strategies for strengthening outlet prioritization and enhancing the effectiveness of retail execution.</a:t>
          </a:r>
        </a:p>
      </dsp:txBody>
      <dsp:txXfrm>
        <a:off x="5422106" y="2339975"/>
        <a:ext cx="3286125" cy="1971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6235F-C23B-4508-93AE-D25B278343BF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6">
              <a:shade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BDE7F30A-E8EB-45E0-9414-37A4DB3D448B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Uneven Retail Execution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-Outlet execution varied significantly across the market, with noticeable differences in rack health, product visibility, and merchandising standards.</a:t>
          </a:r>
        </a:p>
      </dsp:txBody>
      <dsp:txXfrm>
        <a:off x="8061" y="5979"/>
        <a:ext cx="3034531" cy="1820718"/>
      </dsp:txXfrm>
    </dsp:sp>
    <dsp:sp modelId="{A31B807C-54ED-4E0A-9816-7F1CEE362622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6">
              <a:shade val="90000"/>
              <a:hueOff val="61284"/>
              <a:satOff val="144"/>
              <a:lumOff val="1417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088E494C-EFFD-4AA0-9897-F7F61C303464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6">
            <a:shade val="50000"/>
            <a:hueOff val="47724"/>
            <a:satOff val="6860"/>
            <a:lumOff val="161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Hidden High-Potential 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Outlets-Several high-footfall outlets had the potential to generate higher sales but were constrained by limited assortment, inconsistent visibility, or stock availability.</a:t>
          </a:r>
        </a:p>
      </dsp:txBody>
      <dsp:txXfrm>
        <a:off x="3740534" y="5979"/>
        <a:ext cx="3034531" cy="1820718"/>
      </dsp:txXfrm>
    </dsp:sp>
    <dsp:sp modelId="{E4975961-1634-4993-B4B4-C075047D08BA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6350" cap="flat" cmpd="sng" algn="ctr">
          <a:solidFill>
            <a:schemeClr val="accent6">
              <a:shade val="90000"/>
              <a:hueOff val="122568"/>
              <a:satOff val="287"/>
              <a:lumOff val="2834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166CDC11-DBCA-48CA-8A43-DE87124EF378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6">
            <a:shade val="50000"/>
            <a:hueOff val="95448"/>
            <a:satOff val="13719"/>
            <a:lumOff val="322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Strong Competitive 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Presence-Competitor brands maintained better shelf visibility and promotional presence in many outlets, increasing the need for stronger execution by Bingo!.</a:t>
          </a:r>
        </a:p>
      </dsp:txBody>
      <dsp:txXfrm>
        <a:off x="7473007" y="5979"/>
        <a:ext cx="3034531" cy="1820718"/>
      </dsp:txXfrm>
    </dsp:sp>
    <dsp:sp modelId="{00B3826D-FE11-440E-B651-C74488C2BE3C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6">
              <a:shade val="90000"/>
              <a:hueOff val="61284"/>
              <a:satOff val="144"/>
              <a:lumOff val="1417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6CA8BCF8-68E4-4E28-ADAC-1C2DD876F056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6">
            <a:shade val="50000"/>
            <a:hueOff val="95448"/>
            <a:satOff val="13719"/>
            <a:lumOff val="322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Manual Outlet 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Assessment-Field observations were recorded manually, making it difficult to compare outlets systematically or prioritize them based on execution quality.</a:t>
          </a:r>
        </a:p>
      </dsp:txBody>
      <dsp:txXfrm>
        <a:off x="8061" y="2524640"/>
        <a:ext cx="3034531" cy="1820718"/>
      </dsp:txXfrm>
    </dsp:sp>
    <dsp:sp modelId="{5CF25883-4B2F-41BA-8B41-72795F1A24B5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6">
            <a:shade val="50000"/>
            <a:hueOff val="47724"/>
            <a:satOff val="6860"/>
            <a:lumOff val="161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5</a:t>
          </a: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Opportunity for Data-Driven 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Prioritization-A structured outlet-level database highlighted the potential to prioritize outlets using measurable execution parameters rather than relying solely on experience and routine market visits.</a:t>
          </a:r>
        </a:p>
      </dsp:txBody>
      <dsp:txXfrm>
        <a:off x="3740534" y="2524640"/>
        <a:ext cx="3034531" cy="18207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EA4D1-904B-4B61-AEC7-6D54E7C68D1D}">
      <dsp:nvSpPr>
        <dsp:cNvPr id="0" name=""/>
        <dsp:cNvSpPr/>
      </dsp:nvSpPr>
      <dsp:spPr>
        <a:xfrm>
          <a:off x="1141210" y="464276"/>
          <a:ext cx="911854" cy="72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5BA4B-B61C-49AF-9B20-E34C93536EDE}">
      <dsp:nvSpPr>
        <dsp:cNvPr id="0" name=""/>
        <dsp:cNvSpPr/>
      </dsp:nvSpPr>
      <dsp:spPr>
        <a:xfrm>
          <a:off x="2107776" y="387717"/>
          <a:ext cx="104863" cy="196960"/>
        </a:xfrm>
        <a:prstGeom prst="chevron">
          <a:avLst>
            <a:gd name="adj" fmla="val 9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BC522-41CB-4A0E-A4D4-D2BE52193C3D}">
      <dsp:nvSpPr>
        <dsp:cNvPr id="0" name=""/>
        <dsp:cNvSpPr/>
      </dsp:nvSpPr>
      <dsp:spPr>
        <a:xfrm>
          <a:off x="562915" y="0"/>
          <a:ext cx="928625" cy="928625"/>
        </a:xfrm>
        <a:prstGeom prst="ellipse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36" tIns="36036" rIns="36036" bIns="36036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1</a:t>
          </a:r>
        </a:p>
      </dsp:txBody>
      <dsp:txXfrm>
        <a:off x="698909" y="135994"/>
        <a:ext cx="656637" cy="656637"/>
      </dsp:txXfrm>
    </dsp:sp>
    <dsp:sp modelId="{6C38AAD4-E2D6-46E1-9A69-31329C75B625}">
      <dsp:nvSpPr>
        <dsp:cNvPr id="0" name=""/>
        <dsp:cNvSpPr/>
      </dsp:nvSpPr>
      <dsp:spPr>
        <a:xfrm>
          <a:off x="1391" y="1094225"/>
          <a:ext cx="2051673" cy="3648997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38" tIns="165100" rIns="161838" bIns="1651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Times New Roman"/>
              <a:cs typeface="Times New Roman"/>
            </a:rPr>
            <a:t>1. Prioritize Outlets Using an Execution Score</a:t>
          </a:r>
          <a:r>
            <a:rPr lang="en-US" sz="1500" b="0" kern="1200" dirty="0">
              <a:latin typeface="Times New Roman"/>
              <a:cs typeface="Times New Roman"/>
            </a:rPr>
            <a:t> - Instead of servicing all outlets uniformly, classify outlets using execution parameters such as visibility, assortment, rack health, stock availability, and footfall to identify high-potential outlets requiring immediate attention.</a:t>
          </a:r>
        </a:p>
      </dsp:txBody>
      <dsp:txXfrm>
        <a:off x="1391" y="1504560"/>
        <a:ext cx="2051673" cy="3238662"/>
      </dsp:txXfrm>
    </dsp:sp>
    <dsp:sp modelId="{B5C1EB32-3E8C-49B8-BBB9-C261E6822B73}">
      <dsp:nvSpPr>
        <dsp:cNvPr id="0" name=""/>
        <dsp:cNvSpPr/>
      </dsp:nvSpPr>
      <dsp:spPr>
        <a:xfrm>
          <a:off x="2281029" y="464276"/>
          <a:ext cx="2051673" cy="72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595953-9FE5-47AA-9C93-BF5E2C6B7F71}">
      <dsp:nvSpPr>
        <dsp:cNvPr id="0" name=""/>
        <dsp:cNvSpPr/>
      </dsp:nvSpPr>
      <dsp:spPr>
        <a:xfrm>
          <a:off x="4387413" y="387717"/>
          <a:ext cx="104863" cy="196960"/>
        </a:xfrm>
        <a:prstGeom prst="chevron">
          <a:avLst>
            <a:gd name="adj" fmla="val 9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C5167-3A2D-413B-94D0-D1267C5DA18B}">
      <dsp:nvSpPr>
        <dsp:cNvPr id="0" name=""/>
        <dsp:cNvSpPr/>
      </dsp:nvSpPr>
      <dsp:spPr>
        <a:xfrm>
          <a:off x="2842552" y="0"/>
          <a:ext cx="928625" cy="928625"/>
        </a:xfrm>
        <a:prstGeom prst="ellipse">
          <a:avLst/>
        </a:prstGeom>
        <a:solidFill>
          <a:schemeClr val="accent6">
            <a:shade val="50000"/>
            <a:hueOff val="47724"/>
            <a:satOff val="6860"/>
            <a:lumOff val="16107"/>
            <a:alphaOff val="0"/>
          </a:schemeClr>
        </a:solidFill>
        <a:ln w="12700" cap="flat" cmpd="sng" algn="ctr">
          <a:solidFill>
            <a:schemeClr val="accent6">
              <a:shade val="50000"/>
              <a:hueOff val="47724"/>
              <a:satOff val="6860"/>
              <a:lumOff val="161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36" tIns="36036" rIns="36036" bIns="36036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2978546" y="135994"/>
        <a:ext cx="656637" cy="656637"/>
      </dsp:txXfrm>
    </dsp:sp>
    <dsp:sp modelId="{FDA7F225-F748-4BA5-B871-717188C3FAB6}">
      <dsp:nvSpPr>
        <dsp:cNvPr id="0" name=""/>
        <dsp:cNvSpPr/>
      </dsp:nvSpPr>
      <dsp:spPr>
        <a:xfrm>
          <a:off x="2281029" y="1094225"/>
          <a:ext cx="2051673" cy="3648997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38" tIns="165100" rIns="161838" bIns="1651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latin typeface="Times New Roman"/>
              <a:cs typeface="Times New Roman"/>
            </a:rPr>
            <a:t>2. Strengthen Rack Utilization, Not Just Rack Placement</a:t>
          </a:r>
          <a:r>
            <a:rPr lang="en-US" sz="1500" kern="1200">
              <a:latin typeface="Times New Roman"/>
              <a:cs typeface="Times New Roman"/>
            </a:rPr>
            <a:t> -Regularly audit Bingo! racks for maintenance, product fill rate, and visibility. A rack should be evaluated on execution quality rather than merely its presence inside the outlet.</a:t>
          </a:r>
        </a:p>
      </dsp:txBody>
      <dsp:txXfrm>
        <a:off x="2281029" y="1504560"/>
        <a:ext cx="2051673" cy="3238662"/>
      </dsp:txXfrm>
    </dsp:sp>
    <dsp:sp modelId="{C483EAE7-0E82-4DF1-8F8B-66958A048844}">
      <dsp:nvSpPr>
        <dsp:cNvPr id="0" name=""/>
        <dsp:cNvSpPr/>
      </dsp:nvSpPr>
      <dsp:spPr>
        <a:xfrm>
          <a:off x="4560666" y="464276"/>
          <a:ext cx="2051673" cy="72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32ACE-89E1-448A-ABC1-FDCE593D6BBA}">
      <dsp:nvSpPr>
        <dsp:cNvPr id="0" name=""/>
        <dsp:cNvSpPr/>
      </dsp:nvSpPr>
      <dsp:spPr>
        <a:xfrm>
          <a:off x="6667051" y="387717"/>
          <a:ext cx="104863" cy="196960"/>
        </a:xfrm>
        <a:prstGeom prst="chevron">
          <a:avLst>
            <a:gd name="adj" fmla="val 9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5389E6-6797-4118-BB88-FC062AE9F151}">
      <dsp:nvSpPr>
        <dsp:cNvPr id="0" name=""/>
        <dsp:cNvSpPr/>
      </dsp:nvSpPr>
      <dsp:spPr>
        <a:xfrm>
          <a:off x="5122190" y="0"/>
          <a:ext cx="928625" cy="928625"/>
        </a:xfrm>
        <a:prstGeom prst="ellipse">
          <a:avLst/>
        </a:prstGeom>
        <a:solidFill>
          <a:schemeClr val="accent6">
            <a:shade val="50000"/>
            <a:hueOff val="95448"/>
            <a:satOff val="13719"/>
            <a:lumOff val="32214"/>
            <a:alphaOff val="0"/>
          </a:schemeClr>
        </a:solidFill>
        <a:ln w="12700" cap="flat" cmpd="sng" algn="ctr">
          <a:solidFill>
            <a:schemeClr val="accent6">
              <a:shade val="50000"/>
              <a:hueOff val="95448"/>
              <a:satOff val="13719"/>
              <a:lumOff val="322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36" tIns="36036" rIns="36036" bIns="36036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3</a:t>
          </a:r>
        </a:p>
      </dsp:txBody>
      <dsp:txXfrm>
        <a:off x="5258184" y="135994"/>
        <a:ext cx="656637" cy="656637"/>
      </dsp:txXfrm>
    </dsp:sp>
    <dsp:sp modelId="{58B1EC23-BF32-425A-ADD9-3C0414659457}">
      <dsp:nvSpPr>
        <dsp:cNvPr id="0" name=""/>
        <dsp:cNvSpPr/>
      </dsp:nvSpPr>
      <dsp:spPr>
        <a:xfrm>
          <a:off x="4560666" y="1094225"/>
          <a:ext cx="2051673" cy="3648997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38" tIns="165100" rIns="161838" bIns="1651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Times New Roman"/>
              <a:cs typeface="Times New Roman"/>
            </a:rPr>
            <a:t>3. Align Assortment with Outlet Demand</a:t>
          </a:r>
          <a:r>
            <a:rPr lang="en-US" sz="1500" kern="1200" dirty="0">
              <a:latin typeface="Times New Roman"/>
              <a:cs typeface="Times New Roman"/>
            </a:rPr>
            <a:t> - Customize SKU availability based on outlet type, consumer movement, and purchasing patterns instead of maintaining a uniform assortment across all retail outlets.</a:t>
          </a:r>
        </a:p>
      </dsp:txBody>
      <dsp:txXfrm>
        <a:off x="4560666" y="1504560"/>
        <a:ext cx="2051673" cy="3238662"/>
      </dsp:txXfrm>
    </dsp:sp>
    <dsp:sp modelId="{97B0B10F-9CDD-48A4-895D-7D763010D7B1}">
      <dsp:nvSpPr>
        <dsp:cNvPr id="0" name=""/>
        <dsp:cNvSpPr/>
      </dsp:nvSpPr>
      <dsp:spPr>
        <a:xfrm>
          <a:off x="6840303" y="464276"/>
          <a:ext cx="2051673" cy="72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AA9857-7A3D-41DA-9FBA-EAE2BC488517}">
      <dsp:nvSpPr>
        <dsp:cNvPr id="0" name=""/>
        <dsp:cNvSpPr/>
      </dsp:nvSpPr>
      <dsp:spPr>
        <a:xfrm>
          <a:off x="8946688" y="387717"/>
          <a:ext cx="104863" cy="196960"/>
        </a:xfrm>
        <a:prstGeom prst="chevron">
          <a:avLst>
            <a:gd name="adj" fmla="val 9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7FB954-CB29-4736-AE4B-FE43CC1CD5F6}">
      <dsp:nvSpPr>
        <dsp:cNvPr id="0" name=""/>
        <dsp:cNvSpPr/>
      </dsp:nvSpPr>
      <dsp:spPr>
        <a:xfrm>
          <a:off x="7401827" y="0"/>
          <a:ext cx="928625" cy="928625"/>
        </a:xfrm>
        <a:prstGeom prst="ellipse">
          <a:avLst/>
        </a:prstGeom>
        <a:solidFill>
          <a:schemeClr val="accent6">
            <a:shade val="50000"/>
            <a:hueOff val="95448"/>
            <a:satOff val="13719"/>
            <a:lumOff val="32214"/>
            <a:alphaOff val="0"/>
          </a:schemeClr>
        </a:solidFill>
        <a:ln w="12700" cap="flat" cmpd="sng" algn="ctr">
          <a:solidFill>
            <a:schemeClr val="accent6">
              <a:shade val="50000"/>
              <a:hueOff val="95448"/>
              <a:satOff val="13719"/>
              <a:lumOff val="322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36" tIns="36036" rIns="36036" bIns="36036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4</a:t>
          </a:r>
        </a:p>
      </dsp:txBody>
      <dsp:txXfrm>
        <a:off x="7537821" y="135994"/>
        <a:ext cx="656637" cy="656637"/>
      </dsp:txXfrm>
    </dsp:sp>
    <dsp:sp modelId="{3466041F-00B5-4A44-9344-1FC05BD34C01}">
      <dsp:nvSpPr>
        <dsp:cNvPr id="0" name=""/>
        <dsp:cNvSpPr/>
      </dsp:nvSpPr>
      <dsp:spPr>
        <a:xfrm>
          <a:off x="6840303" y="1094225"/>
          <a:ext cx="2051673" cy="3648997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38" tIns="165100" rIns="161838" bIns="1651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Times New Roman"/>
              <a:cs typeface="Times New Roman"/>
            </a:rPr>
            <a:t>4. Digitize Field Observation - </a:t>
          </a:r>
          <a:r>
            <a:rPr lang="en-US" sz="1500" kern="1200" dirty="0">
              <a:latin typeface="Times New Roman"/>
              <a:cs typeface="Times New Roman"/>
            </a:rPr>
            <a:t>Replace informal observations with a structured digital outlet assessment system to enable faster analysis, consistent reporting, and evidence-based decision-making by field teams.</a:t>
          </a:r>
        </a:p>
      </dsp:txBody>
      <dsp:txXfrm>
        <a:off x="6840303" y="1504560"/>
        <a:ext cx="2051673" cy="3238662"/>
      </dsp:txXfrm>
    </dsp:sp>
    <dsp:sp modelId="{69F62CA3-3618-4C20-A065-E54E6B9C4AB0}">
      <dsp:nvSpPr>
        <dsp:cNvPr id="0" name=""/>
        <dsp:cNvSpPr/>
      </dsp:nvSpPr>
      <dsp:spPr>
        <a:xfrm>
          <a:off x="9119940" y="464276"/>
          <a:ext cx="1025836" cy="72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1B524A-0B0F-4988-9607-3076EBE2CC2F}">
      <dsp:nvSpPr>
        <dsp:cNvPr id="0" name=""/>
        <dsp:cNvSpPr/>
      </dsp:nvSpPr>
      <dsp:spPr>
        <a:xfrm>
          <a:off x="9681464" y="0"/>
          <a:ext cx="928625" cy="928625"/>
        </a:xfrm>
        <a:prstGeom prst="ellipse">
          <a:avLst/>
        </a:prstGeom>
        <a:solidFill>
          <a:schemeClr val="accent6">
            <a:shade val="50000"/>
            <a:hueOff val="47724"/>
            <a:satOff val="6860"/>
            <a:lumOff val="16107"/>
            <a:alphaOff val="0"/>
          </a:schemeClr>
        </a:solidFill>
        <a:ln w="12700" cap="flat" cmpd="sng" algn="ctr">
          <a:solidFill>
            <a:schemeClr val="accent6">
              <a:shade val="50000"/>
              <a:hueOff val="47724"/>
              <a:satOff val="6860"/>
              <a:lumOff val="161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36" tIns="36036" rIns="36036" bIns="36036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5</a:t>
          </a:r>
        </a:p>
      </dsp:txBody>
      <dsp:txXfrm>
        <a:off x="9817458" y="135994"/>
        <a:ext cx="656637" cy="656637"/>
      </dsp:txXfrm>
    </dsp:sp>
    <dsp:sp modelId="{D5DAE5BE-B6CE-4CD0-96C9-18E5B29EAA6F}">
      <dsp:nvSpPr>
        <dsp:cNvPr id="0" name=""/>
        <dsp:cNvSpPr/>
      </dsp:nvSpPr>
      <dsp:spPr>
        <a:xfrm>
          <a:off x="9119940" y="1094225"/>
          <a:ext cx="2051673" cy="3648997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38" tIns="165100" rIns="161838" bIns="1651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latin typeface="Times New Roman"/>
              <a:cs typeface="Times New Roman"/>
            </a:rPr>
            <a:t>5. Convert Competitor Observations into Actionable Intelligence - </a:t>
          </a:r>
          <a:r>
            <a:rPr lang="en-US" sz="1500" b="0" kern="1200">
              <a:latin typeface="Times New Roman"/>
              <a:cs typeface="Times New Roman"/>
            </a:rPr>
            <a:t>Standardize the capture of competitor visibility, promotions, and merchandising practices during market visits to support quicker execution decisions and improve competitive response.</a:t>
          </a:r>
        </a:p>
      </dsp:txBody>
      <dsp:txXfrm>
        <a:off x="9119940" y="1504560"/>
        <a:ext cx="2051673" cy="32386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072C9C-A309-4B63-A5FE-E6A7B04932AA}">
      <dsp:nvSpPr>
        <dsp:cNvPr id="0" name=""/>
        <dsp:cNvSpPr/>
      </dsp:nvSpPr>
      <dsp:spPr>
        <a:xfrm>
          <a:off x="402720" y="0"/>
          <a:ext cx="5432143" cy="5432143"/>
        </a:xfrm>
        <a:prstGeom prst="diamond">
          <a:avLst/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6B7D2-3A75-4F36-8AF8-868AEDEF2F3F}">
      <dsp:nvSpPr>
        <dsp:cNvPr id="0" name=""/>
        <dsp:cNvSpPr/>
      </dsp:nvSpPr>
      <dsp:spPr>
        <a:xfrm>
          <a:off x="918774" y="516053"/>
          <a:ext cx="2118535" cy="2118535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>
              <a:latin typeface="Times New Roman"/>
              <a:cs typeface="Times New Roman"/>
            </a:rPr>
            <a:t>Standardizes outlet data collection through a structured </a:t>
          </a:r>
          <a:r>
            <a:rPr lang="en-US" sz="1900" b="1" i="0" kern="1200" baseline="0">
              <a:latin typeface="Times New Roman"/>
              <a:cs typeface="Times New Roman"/>
            </a:rPr>
            <a:t>digital format</a:t>
          </a:r>
          <a:r>
            <a:rPr lang="en-US" sz="1900" b="1" i="0" kern="1200" baseline="0" dirty="0">
              <a:latin typeface="Times New Roman"/>
              <a:cs typeface="Times New Roman"/>
            </a:rPr>
            <a:t>. </a:t>
          </a:r>
          <a:r>
            <a:rPr lang="en-US" sz="1900" b="1" i="0" kern="1200" dirty="0">
              <a:latin typeface="Times New Roman"/>
              <a:cs typeface="Times New Roman"/>
            </a:rPr>
            <a:t>​</a:t>
          </a:r>
          <a:endParaRPr lang="en-US" sz="1900" b="1" kern="1200" dirty="0">
            <a:latin typeface="Times New Roman"/>
            <a:cs typeface="Times New Roman"/>
          </a:endParaRPr>
        </a:p>
      </dsp:txBody>
      <dsp:txXfrm>
        <a:off x="1022192" y="619471"/>
        <a:ext cx="1911699" cy="1911699"/>
      </dsp:txXfrm>
    </dsp:sp>
    <dsp:sp modelId="{6D358A59-ED0D-47F9-89D0-1237131004ED}">
      <dsp:nvSpPr>
        <dsp:cNvPr id="0" name=""/>
        <dsp:cNvSpPr/>
      </dsp:nvSpPr>
      <dsp:spPr>
        <a:xfrm>
          <a:off x="3200274" y="516053"/>
          <a:ext cx="2118535" cy="2118535"/>
        </a:xfrm>
        <a:prstGeom prst="roundRect">
          <a:avLst/>
        </a:prstGeom>
        <a:solidFill>
          <a:schemeClr val="accent6">
            <a:shade val="50000"/>
            <a:hueOff val="59655"/>
            <a:satOff val="8574"/>
            <a:lumOff val="201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>
              <a:latin typeface="Times New Roman"/>
              <a:cs typeface="Times New Roman"/>
            </a:rPr>
            <a:t>Evaluates outlets using execution parameters such as visibility, rack health, assortment, stock availability, footfall, and competitor presence. </a:t>
          </a:r>
          <a:r>
            <a:rPr lang="en-US" sz="1500" b="1" i="0" kern="1200" dirty="0">
              <a:latin typeface="Times New Roman"/>
              <a:cs typeface="Times New Roman"/>
            </a:rPr>
            <a:t>​</a:t>
          </a:r>
          <a:endParaRPr lang="en-US" sz="1500" b="1" kern="1200" dirty="0">
            <a:latin typeface="Times New Roman"/>
            <a:cs typeface="Times New Roman"/>
          </a:endParaRPr>
        </a:p>
      </dsp:txBody>
      <dsp:txXfrm>
        <a:off x="3303692" y="619471"/>
        <a:ext cx="1911699" cy="1911699"/>
      </dsp:txXfrm>
    </dsp:sp>
    <dsp:sp modelId="{7448A429-8261-4FE1-8DCC-F6C15CDAFBA6}">
      <dsp:nvSpPr>
        <dsp:cNvPr id="0" name=""/>
        <dsp:cNvSpPr/>
      </dsp:nvSpPr>
      <dsp:spPr>
        <a:xfrm>
          <a:off x="918774" y="2797553"/>
          <a:ext cx="2118535" cy="2118535"/>
        </a:xfrm>
        <a:prstGeom prst="roundRect">
          <a:avLst/>
        </a:prstGeom>
        <a:solidFill>
          <a:schemeClr val="accent6">
            <a:shade val="50000"/>
            <a:hueOff val="119310"/>
            <a:satOff val="17149"/>
            <a:lumOff val="4026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>
              <a:latin typeface="Times New Roman"/>
              <a:cs typeface="Times New Roman"/>
            </a:rPr>
            <a:t>Generates an outlet score to support data-driven prioritization </a:t>
          </a:r>
          <a:r>
            <a:rPr lang="en-US" sz="1900" b="1" i="0" kern="1200" baseline="0">
              <a:latin typeface="Times New Roman"/>
              <a:cs typeface="Times New Roman"/>
            </a:rPr>
            <a:t>of </a:t>
          </a:r>
          <a:r>
            <a:rPr lang="en-US" sz="1900" b="1" i="0" kern="1200" baseline="0" dirty="0">
              <a:latin typeface="Times New Roman"/>
              <a:cs typeface="Times New Roman"/>
            </a:rPr>
            <a:t>high-potential retail outlets. </a:t>
          </a:r>
          <a:r>
            <a:rPr lang="en-US" sz="1900" b="1" i="0" kern="1200" dirty="0">
              <a:latin typeface="Times New Roman"/>
              <a:cs typeface="Times New Roman"/>
            </a:rPr>
            <a:t>​</a:t>
          </a:r>
          <a:endParaRPr lang="en-US" sz="1900" b="1" kern="1200" dirty="0">
            <a:latin typeface="Times New Roman"/>
            <a:cs typeface="Times New Roman"/>
          </a:endParaRPr>
        </a:p>
      </dsp:txBody>
      <dsp:txXfrm>
        <a:off x="1022192" y="2900971"/>
        <a:ext cx="1911699" cy="1911699"/>
      </dsp:txXfrm>
    </dsp:sp>
    <dsp:sp modelId="{48619E8A-D95D-4A34-8AF0-4A44F93FA4C9}">
      <dsp:nvSpPr>
        <dsp:cNvPr id="0" name=""/>
        <dsp:cNvSpPr/>
      </dsp:nvSpPr>
      <dsp:spPr>
        <a:xfrm>
          <a:off x="3200274" y="2797553"/>
          <a:ext cx="2118535" cy="2118535"/>
        </a:xfrm>
        <a:prstGeom prst="roundRect">
          <a:avLst/>
        </a:prstGeom>
        <a:solidFill>
          <a:schemeClr val="accent6">
            <a:shade val="50000"/>
            <a:hueOff val="59655"/>
            <a:satOff val="8574"/>
            <a:lumOff val="201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>
              <a:latin typeface="Times New Roman"/>
              <a:cs typeface="Times New Roman"/>
            </a:rPr>
            <a:t>Creates structured outputs that can be integrated </a:t>
          </a:r>
          <a:r>
            <a:rPr lang="en-US" sz="1900" b="1" i="0" kern="1200" baseline="0">
              <a:latin typeface="Times New Roman"/>
              <a:cs typeface="Times New Roman"/>
            </a:rPr>
            <a:t>into dashboards</a:t>
          </a:r>
          <a:r>
            <a:rPr lang="en-US" sz="1900" b="1" i="0" kern="1200" baseline="0" dirty="0">
              <a:latin typeface="Times New Roman"/>
              <a:cs typeface="Times New Roman"/>
            </a:rPr>
            <a:t> for faster field-level decision-making. </a:t>
          </a:r>
          <a:r>
            <a:rPr lang="en-US" sz="1900" b="1" i="0" kern="1200" dirty="0">
              <a:latin typeface="Times New Roman"/>
              <a:cs typeface="Times New Roman"/>
            </a:rPr>
            <a:t>​</a:t>
          </a:r>
          <a:endParaRPr lang="en-US" sz="1900" b="1" kern="1200" dirty="0">
            <a:latin typeface="Times New Roman"/>
            <a:cs typeface="Times New Roman"/>
          </a:endParaRPr>
        </a:p>
      </dsp:txBody>
      <dsp:txXfrm>
        <a:off x="3303692" y="2900971"/>
        <a:ext cx="1911699" cy="19116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AD6D44-F0EC-4AD7-BFF3-D94BC6713FF9}">
      <dsp:nvSpPr>
        <dsp:cNvPr id="0" name=""/>
        <dsp:cNvSpPr/>
      </dsp:nvSpPr>
      <dsp:spPr>
        <a:xfrm>
          <a:off x="205" y="687670"/>
          <a:ext cx="2479997" cy="2975996"/>
        </a:xfrm>
        <a:prstGeom prst="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latin typeface="Times New Roman"/>
              <a:cs typeface="Times New Roman"/>
            </a:rPr>
            <a:t> INPUT - </a:t>
          </a:r>
          <a:br>
            <a:rPr lang="en-US" sz="1600" b="0" kern="1200" dirty="0">
              <a:latin typeface="Times New Roman"/>
              <a:cs typeface="Times New Roman"/>
            </a:rPr>
          </a:br>
          <a:r>
            <a:rPr lang="en-US" sz="1600" b="0" kern="1200">
              <a:latin typeface="Times New Roman"/>
              <a:cs typeface="Times New Roman"/>
            </a:rPr>
            <a:t>* Outlet observations collected from 54 retail outlets</a:t>
          </a:r>
          <a:r>
            <a:rPr lang="en-US" sz="1600" b="0" kern="1200" dirty="0">
              <a:latin typeface="Times New Roman"/>
              <a:cs typeface="Times New Roman"/>
            </a:rPr>
            <a:t> </a:t>
          </a:r>
          <a:br>
            <a:rPr lang="en-US" sz="1600" b="0" kern="1200" dirty="0">
              <a:latin typeface="Times New Roman"/>
              <a:cs typeface="Times New Roman"/>
            </a:rPr>
          </a:br>
          <a:r>
            <a:rPr lang="en-US" sz="1600" b="0" kern="1200">
              <a:latin typeface="Times New Roman"/>
              <a:cs typeface="Times New Roman"/>
            </a:rPr>
            <a:t>* Data captured across 7 retail execution parameters</a:t>
          </a:r>
          <a:endParaRPr lang="en-US" sz="1600" b="0" kern="1200" dirty="0">
            <a:latin typeface="Times New Roman"/>
            <a:cs typeface="Times New Roman"/>
          </a:endParaRPr>
        </a:p>
      </dsp:txBody>
      <dsp:txXfrm>
        <a:off x="205" y="1878069"/>
        <a:ext cx="2479997" cy="1785598"/>
      </dsp:txXfrm>
    </dsp:sp>
    <dsp:sp modelId="{1FAA484C-0A50-4261-8E7C-47D5C777E14D}">
      <dsp:nvSpPr>
        <dsp:cNvPr id="0" name=""/>
        <dsp:cNvSpPr/>
      </dsp:nvSpPr>
      <dsp:spPr>
        <a:xfrm>
          <a:off x="205" y="687670"/>
          <a:ext cx="2479997" cy="11903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01</a:t>
          </a:r>
        </a:p>
      </dsp:txBody>
      <dsp:txXfrm>
        <a:off x="205" y="687670"/>
        <a:ext cx="2479997" cy="1190398"/>
      </dsp:txXfrm>
    </dsp:sp>
    <dsp:sp modelId="{EFF910BD-2B88-418F-B6D1-9CEC04E015EE}">
      <dsp:nvSpPr>
        <dsp:cNvPr id="0" name=""/>
        <dsp:cNvSpPr/>
      </dsp:nvSpPr>
      <dsp:spPr>
        <a:xfrm>
          <a:off x="2678602" y="687670"/>
          <a:ext cx="2479997" cy="2975996"/>
        </a:xfrm>
        <a:prstGeom prst="rect">
          <a:avLst/>
        </a:prstGeom>
        <a:solidFill>
          <a:schemeClr val="accent6">
            <a:shade val="50000"/>
            <a:hueOff val="59655"/>
            <a:satOff val="8574"/>
            <a:lumOff val="20133"/>
            <a:alphaOff val="0"/>
          </a:schemeClr>
        </a:solidFill>
        <a:ln w="12700" cap="flat" cmpd="sng" algn="ctr">
          <a:solidFill>
            <a:schemeClr val="accent6">
              <a:shade val="50000"/>
              <a:hueOff val="59655"/>
              <a:satOff val="8574"/>
              <a:lumOff val="201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b="1" i="0" kern="1200" baseline="0" dirty="0">
              <a:latin typeface="Times New Roman"/>
              <a:cs typeface="Times New Roman"/>
            </a:rPr>
            <a:t> </a:t>
          </a:r>
          <a:r>
            <a:rPr lang="en-US" sz="1400" b="1" i="0" kern="1200" baseline="0" dirty="0">
              <a:latin typeface="Times New Roman"/>
              <a:cs typeface="Times New Roman"/>
            </a:rPr>
            <a:t>AI </a:t>
          </a:r>
          <a:r>
            <a:rPr lang="en-US" sz="1400" b="1" i="0" kern="1200" baseline="0">
              <a:latin typeface="Times New Roman"/>
              <a:cs typeface="Times New Roman"/>
            </a:rPr>
            <a:t>PROCESSING - </a:t>
          </a:r>
          <a:br>
            <a:rPr lang="en-US" sz="1400" b="1" i="0" kern="1200" baseline="0" dirty="0">
              <a:latin typeface="Times New Roman"/>
              <a:cs typeface="Times New Roman"/>
            </a:rPr>
          </a:br>
          <a:r>
            <a:rPr lang="en-US" sz="1400" b="0" i="0" kern="1200" baseline="0">
              <a:latin typeface="Times New Roman"/>
              <a:cs typeface="Times New Roman"/>
            </a:rPr>
            <a:t>* Structured</a:t>
          </a:r>
          <a:r>
            <a:rPr lang="en-US" sz="1400" b="0" i="0" kern="1200" baseline="0" dirty="0">
              <a:latin typeface="Times New Roman"/>
              <a:cs typeface="Times New Roman"/>
            </a:rPr>
            <a:t> outlet database creation </a:t>
          </a:r>
          <a:br>
            <a:rPr lang="en-US" sz="1400" b="0" i="0" kern="1200" baseline="0" dirty="0">
              <a:latin typeface="Times New Roman"/>
              <a:cs typeface="Times New Roman"/>
            </a:rPr>
          </a:br>
          <a:r>
            <a:rPr lang="en-US" sz="1400" b="0" i="0" kern="1200" baseline="0" dirty="0">
              <a:latin typeface="Times New Roman"/>
              <a:cs typeface="Times New Roman"/>
            </a:rPr>
            <a:t>* Parameter-wise outlet evaluation </a:t>
          </a:r>
          <a:br>
            <a:rPr lang="en-US" sz="1400" b="0" i="0" kern="1200" baseline="0" dirty="0">
              <a:latin typeface="Times New Roman"/>
              <a:cs typeface="Times New Roman"/>
            </a:rPr>
          </a:br>
          <a:r>
            <a:rPr lang="en-US" sz="1400" b="0" i="0" kern="1200" baseline="0" dirty="0">
              <a:latin typeface="Times New Roman"/>
              <a:cs typeface="Times New Roman"/>
            </a:rPr>
            <a:t>* Automated outlet scoring </a:t>
          </a:r>
          <a:br>
            <a:rPr lang="en-US" sz="1400" b="0" i="0" kern="1200" baseline="0" dirty="0">
              <a:latin typeface="Times New Roman"/>
              <a:cs typeface="Times New Roman"/>
            </a:rPr>
          </a:br>
          <a:r>
            <a:rPr lang="en-US" sz="1400" b="0" i="0" kern="1200" baseline="0" dirty="0">
              <a:latin typeface="Times New Roman"/>
              <a:cs typeface="Times New Roman"/>
            </a:rPr>
            <a:t>* Potential outlet classification</a:t>
          </a:r>
        </a:p>
      </dsp:txBody>
      <dsp:txXfrm>
        <a:off x="2678602" y="1878069"/>
        <a:ext cx="2479997" cy="1785598"/>
      </dsp:txXfrm>
    </dsp:sp>
    <dsp:sp modelId="{4132074E-96F5-40DC-8E34-8F9F19D8765B}">
      <dsp:nvSpPr>
        <dsp:cNvPr id="0" name=""/>
        <dsp:cNvSpPr/>
      </dsp:nvSpPr>
      <dsp:spPr>
        <a:xfrm>
          <a:off x="2678602" y="687670"/>
          <a:ext cx="2479997" cy="11903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 dirty="0"/>
            <a:t>02</a:t>
          </a:r>
        </a:p>
      </dsp:txBody>
      <dsp:txXfrm>
        <a:off x="2678602" y="687670"/>
        <a:ext cx="2479997" cy="1190398"/>
      </dsp:txXfrm>
    </dsp:sp>
    <dsp:sp modelId="{881462A8-5104-4F57-8187-B99B3C789FC2}">
      <dsp:nvSpPr>
        <dsp:cNvPr id="0" name=""/>
        <dsp:cNvSpPr/>
      </dsp:nvSpPr>
      <dsp:spPr>
        <a:xfrm>
          <a:off x="5356999" y="687670"/>
          <a:ext cx="2479997" cy="2975996"/>
        </a:xfrm>
        <a:prstGeom prst="rect">
          <a:avLst/>
        </a:prstGeom>
        <a:solidFill>
          <a:schemeClr val="accent6">
            <a:shade val="50000"/>
            <a:hueOff val="119310"/>
            <a:satOff val="17149"/>
            <a:lumOff val="40267"/>
            <a:alphaOff val="0"/>
          </a:schemeClr>
        </a:solidFill>
        <a:ln w="12700" cap="flat" cmpd="sng" algn="ctr">
          <a:solidFill>
            <a:schemeClr val="accent6">
              <a:shade val="50000"/>
              <a:hueOff val="119310"/>
              <a:satOff val="17149"/>
              <a:lumOff val="40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latin typeface="Times New Roman"/>
              <a:cs typeface="Times New Roman"/>
            </a:rPr>
            <a:t>OUTPUT - </a:t>
          </a:r>
          <a:br>
            <a:rPr lang="en-US" sz="1500" b="1" i="0" kern="1200" baseline="0" dirty="0">
              <a:latin typeface="Times New Roman"/>
              <a:cs typeface="Times New Roman"/>
            </a:rPr>
          </a:br>
          <a:r>
            <a:rPr lang="en-US" sz="1500" b="0" i="0" kern="1200" baseline="0">
              <a:latin typeface="Avenir Next LT Pro"/>
            </a:rPr>
            <a:t>* </a:t>
          </a:r>
          <a:r>
            <a:rPr lang="en-US" sz="1500" b="0" i="0" kern="1200" baseline="0"/>
            <a:t>Total Outlet Score </a:t>
          </a:r>
          <a:br>
            <a:rPr lang="en-US" sz="1500" b="0" i="0" kern="1200" baseline="0" dirty="0">
              <a:latin typeface="Avenir Next LT Pro"/>
            </a:rPr>
          </a:br>
          <a:r>
            <a:rPr lang="en-US" sz="1500" b="0" i="0" kern="1200" baseline="0">
              <a:latin typeface="Avenir Next LT Pro"/>
            </a:rPr>
            <a:t>* </a:t>
          </a:r>
          <a:r>
            <a:rPr lang="en-US" sz="1500" b="0" i="0" kern="1200" baseline="0"/>
            <a:t>Potential Outlet Identification </a:t>
          </a:r>
          <a:r>
            <a:rPr lang="en-US" sz="1500" b="0" i="0" kern="1200" baseline="0">
              <a:latin typeface="Avenir Next LT Pro"/>
            </a:rPr>
            <a:t>* </a:t>
          </a:r>
          <a:r>
            <a:rPr lang="en-US" sz="1500" b="0" i="0" kern="1200" baseline="0"/>
            <a:t>Selection Reason </a:t>
          </a:r>
          <a:br>
            <a:rPr lang="en-US" sz="1500" b="0" i="0" kern="1200" baseline="0" dirty="0">
              <a:latin typeface="Avenir Next LT Pro"/>
            </a:rPr>
          </a:br>
          <a:r>
            <a:rPr lang="en-US" sz="1500" b="0" i="0" kern="1200" baseline="0">
              <a:latin typeface="Avenir Next LT Pro"/>
            </a:rPr>
            <a:t>* </a:t>
          </a:r>
          <a:r>
            <a:rPr lang="en-US" sz="1500" b="0" i="0" kern="1200" baseline="0"/>
            <a:t>Power BI Dashboard for outlet comparison</a:t>
          </a:r>
        </a:p>
      </dsp:txBody>
      <dsp:txXfrm>
        <a:off x="5356999" y="1878069"/>
        <a:ext cx="2479997" cy="1785598"/>
      </dsp:txXfrm>
    </dsp:sp>
    <dsp:sp modelId="{5A1F6F0E-7C26-4185-B3BF-9A388669FE69}">
      <dsp:nvSpPr>
        <dsp:cNvPr id="0" name=""/>
        <dsp:cNvSpPr/>
      </dsp:nvSpPr>
      <dsp:spPr>
        <a:xfrm>
          <a:off x="5356999" y="687670"/>
          <a:ext cx="2479997" cy="11903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200" kern="1200"/>
        </a:p>
      </dsp:txBody>
      <dsp:txXfrm>
        <a:off x="5356999" y="687670"/>
        <a:ext cx="2479997" cy="1190398"/>
      </dsp:txXfrm>
    </dsp:sp>
    <dsp:sp modelId="{EC1DA4E1-5605-4D52-8A54-980DD36C877E}">
      <dsp:nvSpPr>
        <dsp:cNvPr id="0" name=""/>
        <dsp:cNvSpPr/>
      </dsp:nvSpPr>
      <dsp:spPr>
        <a:xfrm>
          <a:off x="8035397" y="687670"/>
          <a:ext cx="2479997" cy="2975996"/>
        </a:xfrm>
        <a:prstGeom prst="rect">
          <a:avLst/>
        </a:prstGeom>
        <a:solidFill>
          <a:schemeClr val="accent6">
            <a:shade val="50000"/>
            <a:hueOff val="59655"/>
            <a:satOff val="8574"/>
            <a:lumOff val="20133"/>
            <a:alphaOff val="0"/>
          </a:schemeClr>
        </a:solidFill>
        <a:ln w="12700" cap="flat" cmpd="sng" algn="ctr">
          <a:solidFill>
            <a:schemeClr val="accent6">
              <a:shade val="50000"/>
              <a:hueOff val="59655"/>
              <a:satOff val="8574"/>
              <a:lumOff val="201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>
              <a:latin typeface="Times New Roman"/>
              <a:cs typeface="Times New Roman"/>
            </a:rPr>
            <a:t>TOOLS USED - </a:t>
          </a:r>
          <a:br>
            <a:rPr lang="en-US" sz="1500" b="1" i="0" kern="1200" baseline="0" dirty="0">
              <a:latin typeface="Times New Roman"/>
              <a:cs typeface="Times New Roman"/>
            </a:rPr>
          </a:br>
          <a:r>
            <a:rPr lang="en-US" sz="1500" b="1" i="0" kern="1200" baseline="0" dirty="0">
              <a:latin typeface="Times New Roman"/>
              <a:cs typeface="Times New Roman"/>
            </a:rPr>
            <a:t>* </a:t>
          </a:r>
          <a:r>
            <a:rPr lang="en-US" sz="1500" b="1" kern="1200" dirty="0">
              <a:latin typeface="Times New Roman"/>
              <a:cs typeface="Times New Roman"/>
            </a:rPr>
            <a:t>ChatGPT</a:t>
          </a:r>
          <a:r>
            <a:rPr lang="en-US" sz="1500" b="0" kern="1200" dirty="0">
              <a:latin typeface="Times New Roman"/>
              <a:cs typeface="Times New Roman"/>
            </a:rPr>
            <a:t> – AI-assisted solution design </a:t>
          </a:r>
          <a:br>
            <a:rPr lang="en-US" sz="1500" b="0" kern="1200" dirty="0">
              <a:latin typeface="Times New Roman"/>
              <a:cs typeface="Times New Roman"/>
            </a:rPr>
          </a:br>
          <a:r>
            <a:rPr lang="en-US" sz="1500" b="1" kern="1200" dirty="0">
              <a:latin typeface="Times New Roman"/>
              <a:cs typeface="Times New Roman"/>
            </a:rPr>
            <a:t>* Power BI</a:t>
          </a:r>
          <a:r>
            <a:rPr lang="en-US" sz="1500" b="0" kern="1200" dirty="0">
              <a:latin typeface="Times New Roman"/>
              <a:cs typeface="Times New Roman"/>
            </a:rPr>
            <a:t> – Dashboard visualization</a:t>
          </a:r>
          <a:endParaRPr lang="en-US" sz="1500" b="1" kern="1200" dirty="0">
            <a:latin typeface="Times New Roman"/>
            <a:cs typeface="Times New Roman"/>
          </a:endParaRPr>
        </a:p>
      </dsp:txBody>
      <dsp:txXfrm>
        <a:off x="8035397" y="1878069"/>
        <a:ext cx="2479997" cy="1785598"/>
      </dsp:txXfrm>
    </dsp:sp>
    <dsp:sp modelId="{E1272C6E-06FC-46CB-B340-EB11A18330A0}">
      <dsp:nvSpPr>
        <dsp:cNvPr id="0" name=""/>
        <dsp:cNvSpPr/>
      </dsp:nvSpPr>
      <dsp:spPr>
        <a:xfrm>
          <a:off x="8035397" y="687670"/>
          <a:ext cx="2479997" cy="11903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04</a:t>
          </a:r>
        </a:p>
      </dsp:txBody>
      <dsp:txXfrm>
        <a:off x="8035397" y="687670"/>
        <a:ext cx="2479997" cy="11903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57578-1E83-4D33-82AE-65627FF2C8E5}">
      <dsp:nvSpPr>
        <dsp:cNvPr id="0" name=""/>
        <dsp:cNvSpPr/>
      </dsp:nvSpPr>
      <dsp:spPr>
        <a:xfrm>
          <a:off x="1314282" y="2489"/>
          <a:ext cx="5257130" cy="1092501"/>
        </a:xfrm>
        <a:prstGeom prst="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277495" rIns="102003" bIns="27749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Expand the outlet evaluation framework to cover a larger retail universe across multiple territories and distributors. </a:t>
          </a:r>
        </a:p>
      </dsp:txBody>
      <dsp:txXfrm>
        <a:off x="1314282" y="2489"/>
        <a:ext cx="5257130" cy="1092501"/>
      </dsp:txXfrm>
    </dsp:sp>
    <dsp:sp modelId="{826C3838-D3E3-44A6-96D4-6A5D32348E8E}">
      <dsp:nvSpPr>
        <dsp:cNvPr id="0" name=""/>
        <dsp:cNvSpPr/>
      </dsp:nvSpPr>
      <dsp:spPr>
        <a:xfrm>
          <a:off x="0" y="2489"/>
          <a:ext cx="1314282" cy="10925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7" tIns="107915" rIns="69547" bIns="10791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Expand</a:t>
          </a:r>
        </a:p>
      </dsp:txBody>
      <dsp:txXfrm>
        <a:off x="0" y="2489"/>
        <a:ext cx="1314282" cy="1092501"/>
      </dsp:txXfrm>
    </dsp:sp>
    <dsp:sp modelId="{44A315B4-F972-41A1-A98B-2A79D056D0E7}">
      <dsp:nvSpPr>
        <dsp:cNvPr id="0" name=""/>
        <dsp:cNvSpPr/>
      </dsp:nvSpPr>
      <dsp:spPr>
        <a:xfrm>
          <a:off x="1314282" y="1160541"/>
          <a:ext cx="5257130" cy="1092501"/>
        </a:xfrm>
        <a:prstGeom prst="rect">
          <a:avLst/>
        </a:prstGeom>
        <a:solidFill>
          <a:schemeClr val="accent6">
            <a:shade val="50000"/>
            <a:hueOff val="47724"/>
            <a:satOff val="6860"/>
            <a:lumOff val="16107"/>
            <a:alphaOff val="0"/>
          </a:schemeClr>
        </a:solidFill>
        <a:ln w="12700" cap="flat" cmpd="sng" algn="ctr">
          <a:solidFill>
            <a:schemeClr val="accent6">
              <a:shade val="50000"/>
              <a:hueOff val="47724"/>
              <a:satOff val="6860"/>
              <a:lumOff val="161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277495" rIns="102003" bIns="27749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Integrate real-time sales and billing data to make outlet scoring more dynamic and data-driven.</a:t>
          </a:r>
          <a:r>
            <a:rPr lang="en-US" sz="1800" kern="1200">
              <a:latin typeface="Times New Roman"/>
              <a:cs typeface="Times New Roman"/>
            </a:rPr>
            <a:t> </a:t>
          </a:r>
        </a:p>
      </dsp:txBody>
      <dsp:txXfrm>
        <a:off x="1314282" y="1160541"/>
        <a:ext cx="5257130" cy="1092501"/>
      </dsp:txXfrm>
    </dsp:sp>
    <dsp:sp modelId="{505E7FFC-C20D-4325-AB11-583A43ED7A3E}">
      <dsp:nvSpPr>
        <dsp:cNvPr id="0" name=""/>
        <dsp:cNvSpPr/>
      </dsp:nvSpPr>
      <dsp:spPr>
        <a:xfrm>
          <a:off x="0" y="1160541"/>
          <a:ext cx="1314282" cy="10925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50000"/>
              <a:hueOff val="47724"/>
              <a:satOff val="6860"/>
              <a:lumOff val="161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7" tIns="107915" rIns="69547" bIns="10791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Integrate</a:t>
          </a:r>
        </a:p>
      </dsp:txBody>
      <dsp:txXfrm>
        <a:off x="0" y="1160541"/>
        <a:ext cx="1314282" cy="1092501"/>
      </dsp:txXfrm>
    </dsp:sp>
    <dsp:sp modelId="{3B410EEA-D8A5-41F1-8692-C438169DE2B0}">
      <dsp:nvSpPr>
        <dsp:cNvPr id="0" name=""/>
        <dsp:cNvSpPr/>
      </dsp:nvSpPr>
      <dsp:spPr>
        <a:xfrm>
          <a:off x="1314282" y="2318592"/>
          <a:ext cx="5257130" cy="1092501"/>
        </a:xfrm>
        <a:prstGeom prst="rect">
          <a:avLst/>
        </a:prstGeom>
        <a:solidFill>
          <a:schemeClr val="accent6">
            <a:shade val="50000"/>
            <a:hueOff val="95448"/>
            <a:satOff val="13719"/>
            <a:lumOff val="32214"/>
            <a:alphaOff val="0"/>
          </a:schemeClr>
        </a:solidFill>
        <a:ln w="12700" cap="flat" cmpd="sng" algn="ctr">
          <a:solidFill>
            <a:schemeClr val="accent6">
              <a:shade val="50000"/>
              <a:hueOff val="95448"/>
              <a:satOff val="13719"/>
              <a:lumOff val="322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277495" rIns="102003" bIns="27749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Develop a centralized dashboard for Sales Officers and Area Sales Managers to monitor outlet performance and execution quality. </a:t>
          </a:r>
        </a:p>
      </dsp:txBody>
      <dsp:txXfrm>
        <a:off x="1314282" y="2318592"/>
        <a:ext cx="5257130" cy="1092501"/>
      </dsp:txXfrm>
    </dsp:sp>
    <dsp:sp modelId="{462B3EFC-89AA-40A1-BE2C-50DC3AEF48F9}">
      <dsp:nvSpPr>
        <dsp:cNvPr id="0" name=""/>
        <dsp:cNvSpPr/>
      </dsp:nvSpPr>
      <dsp:spPr>
        <a:xfrm>
          <a:off x="0" y="2318592"/>
          <a:ext cx="1314282" cy="10925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50000"/>
              <a:hueOff val="95448"/>
              <a:satOff val="13719"/>
              <a:lumOff val="322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7" tIns="107915" rIns="69547" bIns="10791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Develop</a:t>
          </a:r>
        </a:p>
      </dsp:txBody>
      <dsp:txXfrm>
        <a:off x="0" y="2318592"/>
        <a:ext cx="1314282" cy="1092501"/>
      </dsp:txXfrm>
    </dsp:sp>
    <dsp:sp modelId="{E505CFB2-CE55-4BC1-9796-8073719FE792}">
      <dsp:nvSpPr>
        <dsp:cNvPr id="0" name=""/>
        <dsp:cNvSpPr/>
      </dsp:nvSpPr>
      <dsp:spPr>
        <a:xfrm>
          <a:off x="1314282" y="3476643"/>
          <a:ext cx="5257130" cy="1092501"/>
        </a:xfrm>
        <a:prstGeom prst="rect">
          <a:avLst/>
        </a:prstGeom>
        <a:solidFill>
          <a:schemeClr val="accent6">
            <a:shade val="50000"/>
            <a:hueOff val="95448"/>
            <a:satOff val="13719"/>
            <a:lumOff val="32214"/>
            <a:alphaOff val="0"/>
          </a:schemeClr>
        </a:solidFill>
        <a:ln w="12700" cap="flat" cmpd="sng" algn="ctr">
          <a:solidFill>
            <a:schemeClr val="accent6">
              <a:shade val="50000"/>
              <a:hueOff val="95448"/>
              <a:satOff val="13719"/>
              <a:lumOff val="322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277495" rIns="102003" bIns="27749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Incorporate predictive analytics to identify high-potential outlets and recommend priority actions before market visits. </a:t>
          </a:r>
        </a:p>
      </dsp:txBody>
      <dsp:txXfrm>
        <a:off x="1314282" y="3476643"/>
        <a:ext cx="5257130" cy="1092501"/>
      </dsp:txXfrm>
    </dsp:sp>
    <dsp:sp modelId="{DCE80F8F-5CDF-4A9E-9DC0-1E85317253E6}">
      <dsp:nvSpPr>
        <dsp:cNvPr id="0" name=""/>
        <dsp:cNvSpPr/>
      </dsp:nvSpPr>
      <dsp:spPr>
        <a:xfrm>
          <a:off x="0" y="3476643"/>
          <a:ext cx="1314282" cy="10925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50000"/>
              <a:hueOff val="95448"/>
              <a:satOff val="13719"/>
              <a:lumOff val="322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7" tIns="107915" rIns="69547" bIns="10791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Incorporate</a:t>
          </a:r>
        </a:p>
      </dsp:txBody>
      <dsp:txXfrm>
        <a:off x="0" y="3476643"/>
        <a:ext cx="1314282" cy="1092501"/>
      </dsp:txXfrm>
    </dsp:sp>
    <dsp:sp modelId="{3CE6AA5B-6255-4ECB-A295-B046F531BB79}">
      <dsp:nvSpPr>
        <dsp:cNvPr id="0" name=""/>
        <dsp:cNvSpPr/>
      </dsp:nvSpPr>
      <dsp:spPr>
        <a:xfrm>
          <a:off x="1314282" y="4634694"/>
          <a:ext cx="5257130" cy="1092501"/>
        </a:xfrm>
        <a:prstGeom prst="rect">
          <a:avLst/>
        </a:prstGeom>
        <a:solidFill>
          <a:schemeClr val="accent6">
            <a:shade val="50000"/>
            <a:hueOff val="47724"/>
            <a:satOff val="6860"/>
            <a:lumOff val="16107"/>
            <a:alphaOff val="0"/>
          </a:schemeClr>
        </a:solidFill>
        <a:ln w="12700" cap="flat" cmpd="sng" algn="ctr">
          <a:solidFill>
            <a:schemeClr val="accent6">
              <a:shade val="50000"/>
              <a:hueOff val="47724"/>
              <a:satOff val="6860"/>
              <a:lumOff val="161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277495" rIns="102003" bIns="27749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Enable periodic outlet re-evaluation to track improvements in visibility, assortment, and execution over time.</a:t>
          </a:r>
        </a:p>
      </dsp:txBody>
      <dsp:txXfrm>
        <a:off x="1314282" y="4634694"/>
        <a:ext cx="5257130" cy="1092501"/>
      </dsp:txXfrm>
    </dsp:sp>
    <dsp:sp modelId="{CD71ECD7-5FD8-4D14-BCB6-EC760F512B0E}">
      <dsp:nvSpPr>
        <dsp:cNvPr id="0" name=""/>
        <dsp:cNvSpPr/>
      </dsp:nvSpPr>
      <dsp:spPr>
        <a:xfrm>
          <a:off x="0" y="4634694"/>
          <a:ext cx="1314282" cy="10925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50000"/>
              <a:hueOff val="47724"/>
              <a:satOff val="6860"/>
              <a:lumOff val="161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7" tIns="107915" rIns="69547" bIns="10791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/>
              <a:cs typeface="Times New Roman"/>
            </a:rPr>
            <a:t>Enable</a:t>
          </a:r>
        </a:p>
      </dsp:txBody>
      <dsp:txXfrm>
        <a:off x="0" y="4634694"/>
        <a:ext cx="1314282" cy="109250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94512-2265-48C4-88A6-DC9A55D0D7BF}">
      <dsp:nvSpPr>
        <dsp:cNvPr id="0" name=""/>
        <dsp:cNvSpPr/>
      </dsp:nvSpPr>
      <dsp:spPr>
        <a:xfrm>
          <a:off x="0" y="27684"/>
          <a:ext cx="10515600" cy="810809"/>
        </a:xfrm>
        <a:prstGeom prst="round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/>
              <a:cs typeface="Times New Roman"/>
            </a:rPr>
            <a:t>Successfully translated field observations from </a:t>
          </a:r>
          <a:r>
            <a:rPr lang="en-US" sz="2100" b="1" kern="1200">
              <a:latin typeface="Times New Roman"/>
              <a:cs typeface="Times New Roman"/>
            </a:rPr>
            <a:t>54 retail outlets</a:t>
          </a:r>
          <a:r>
            <a:rPr lang="en-US" sz="2100" kern="1200">
              <a:latin typeface="Times New Roman"/>
              <a:cs typeface="Times New Roman"/>
            </a:rPr>
            <a:t> into a structured outlet evaluation framework. </a:t>
          </a:r>
        </a:p>
      </dsp:txBody>
      <dsp:txXfrm>
        <a:off x="39580" y="67264"/>
        <a:ext cx="10436440" cy="731649"/>
      </dsp:txXfrm>
    </dsp:sp>
    <dsp:sp modelId="{4B1848D2-6D4F-4112-954A-1B0382514EC6}">
      <dsp:nvSpPr>
        <dsp:cNvPr id="0" name=""/>
        <dsp:cNvSpPr/>
      </dsp:nvSpPr>
      <dsp:spPr>
        <a:xfrm>
          <a:off x="0" y="898974"/>
          <a:ext cx="10515600" cy="810809"/>
        </a:xfrm>
        <a:prstGeom prst="roundRect">
          <a:avLst/>
        </a:prstGeom>
        <a:solidFill>
          <a:schemeClr val="accent6">
            <a:shade val="80000"/>
            <a:hueOff val="26380"/>
            <a:satOff val="2537"/>
            <a:lumOff val="59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/>
              <a:cs typeface="Times New Roman"/>
            </a:rPr>
            <a:t>Identified execution gaps by assessing key retail parameters, including visibility, rack health, assortment, stock availability, footfall, and competitor presence. </a:t>
          </a:r>
        </a:p>
      </dsp:txBody>
      <dsp:txXfrm>
        <a:off x="39580" y="938554"/>
        <a:ext cx="10436440" cy="731649"/>
      </dsp:txXfrm>
    </dsp:sp>
    <dsp:sp modelId="{E767D620-4E1B-4C6D-9D59-A342F439DF02}">
      <dsp:nvSpPr>
        <dsp:cNvPr id="0" name=""/>
        <dsp:cNvSpPr/>
      </dsp:nvSpPr>
      <dsp:spPr>
        <a:xfrm>
          <a:off x="0" y="1770264"/>
          <a:ext cx="10515600" cy="810809"/>
        </a:xfrm>
        <a:prstGeom prst="roundRect">
          <a:avLst/>
        </a:prstGeom>
        <a:solidFill>
          <a:schemeClr val="accent6">
            <a:shade val="80000"/>
            <a:hueOff val="52759"/>
            <a:satOff val="5074"/>
            <a:lumOff val="119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/>
              <a:cs typeface="Times New Roman"/>
            </a:rPr>
            <a:t>Demonstrated that outlet prioritization should be based on execution quality and business potential rather than routine market coverage alone. </a:t>
          </a:r>
        </a:p>
      </dsp:txBody>
      <dsp:txXfrm>
        <a:off x="39580" y="1809844"/>
        <a:ext cx="10436440" cy="731649"/>
      </dsp:txXfrm>
    </dsp:sp>
    <dsp:sp modelId="{F2F82B0D-A05E-488E-B1A1-C3E497CEFF7D}">
      <dsp:nvSpPr>
        <dsp:cNvPr id="0" name=""/>
        <dsp:cNvSpPr/>
      </dsp:nvSpPr>
      <dsp:spPr>
        <a:xfrm>
          <a:off x="0" y="2641554"/>
          <a:ext cx="10515600" cy="810809"/>
        </a:xfrm>
        <a:prstGeom prst="roundRect">
          <a:avLst/>
        </a:prstGeom>
        <a:solidFill>
          <a:schemeClr val="accent6">
            <a:shade val="80000"/>
            <a:hueOff val="79139"/>
            <a:satOff val="7612"/>
            <a:lumOff val="178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/>
              <a:cs typeface="Times New Roman"/>
            </a:rPr>
            <a:t>Proposed an </a:t>
          </a:r>
          <a:r>
            <a:rPr lang="en-US" sz="2100" b="1" kern="1200">
              <a:latin typeface="Times New Roman"/>
              <a:cs typeface="Times New Roman"/>
            </a:rPr>
            <a:t>AI-assisted Outlet Data Entry &amp; Outlet Scoring System</a:t>
          </a:r>
          <a:r>
            <a:rPr lang="en-US" sz="2100" kern="1200">
              <a:latin typeface="Times New Roman"/>
              <a:cs typeface="Times New Roman"/>
            </a:rPr>
            <a:t> to standardize outlet assessment and support objective, data-driven decision-making. </a:t>
          </a:r>
        </a:p>
      </dsp:txBody>
      <dsp:txXfrm>
        <a:off x="39580" y="2681134"/>
        <a:ext cx="10436440" cy="731649"/>
      </dsp:txXfrm>
    </dsp:sp>
    <dsp:sp modelId="{2B5FA282-4B38-4DBB-AE8F-3C6DE6F01028}">
      <dsp:nvSpPr>
        <dsp:cNvPr id="0" name=""/>
        <dsp:cNvSpPr/>
      </dsp:nvSpPr>
      <dsp:spPr>
        <a:xfrm>
          <a:off x="0" y="3512844"/>
          <a:ext cx="10515600" cy="810809"/>
        </a:xfrm>
        <a:prstGeom prst="roundRect">
          <a:avLst/>
        </a:prstGeom>
        <a:solidFill>
          <a:schemeClr val="accent6">
            <a:shade val="80000"/>
            <a:hueOff val="105518"/>
            <a:satOff val="10149"/>
            <a:lumOff val="238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/>
              <a:cs typeface="Times New Roman"/>
            </a:rPr>
            <a:t>Established a practical approach that combines field intelligence, retail analytics, and AI to strengthen </a:t>
          </a:r>
          <a:r>
            <a:rPr lang="en-US" sz="2100" kern="1200" dirty="0" err="1">
              <a:latin typeface="Times New Roman"/>
              <a:cs typeface="Times New Roman"/>
            </a:rPr>
            <a:t>Bingo!'s</a:t>
          </a:r>
          <a:r>
            <a:rPr lang="en-US" sz="2100" kern="1200" dirty="0">
              <a:latin typeface="Times New Roman"/>
              <a:cs typeface="Times New Roman"/>
            </a:rPr>
            <a:t> retail execution and identify high-potential growth opportunities.</a:t>
          </a:r>
        </a:p>
      </dsp:txBody>
      <dsp:txXfrm>
        <a:off x="39580" y="3552424"/>
        <a:ext cx="10436440" cy="731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F253DB4D-9E22-43D9-82A9-EB2CA844EAFA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B926B07C-0F81-4FD7-89C4-A1A655DE797E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20FF2230-BFE8-4B08-B7A2-A4DBA0F267EA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6C8408E7-7A39-4167-8D3A-61649AED954E}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{A7E9834F-1013-4DD9-8BBE-172EE1F38089}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{2A9FE6F8-0348-4925-B0B8-F528F30B7401}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7/18/2026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6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7/18/2026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62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7/18/2026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06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7/18/2026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479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7/18/2026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95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7/18/2026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9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7/18/2026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7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28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7/18/2026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1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7/18/2026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5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7/18/2026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73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7/18/2026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8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19" r:id="rId6"/>
    <p:sldLayoutId id="2147483815" r:id="rId7"/>
    <p:sldLayoutId id="2147483816" r:id="rId8"/>
    <p:sldLayoutId id="2147483817" r:id="rId9"/>
    <p:sldLayoutId id="2147483818" r:id="rId10"/>
    <p:sldLayoutId id="214748382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63QK481Yl1nzvs7hE2Bdmo4SkX8bH8eq/edit?usp=sharing&amp;ouid=111780790553225557294&amp;rtpof=true&amp;sd=tru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24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2EBBF56-923D-48A7-9F8F-86E33CFA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81655" y="673020"/>
            <a:ext cx="4833902" cy="5683329"/>
            <a:chOff x="1674895" y="1345036"/>
            <a:chExt cx="5428610" cy="4210939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6D5794E-BC9E-4A8A-BB29-9A32C8F26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16175AF-13E0-4D14-8638-11BBE8359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47CBABA-F6AA-963D-92FF-6B6A269B22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00" r="16652" b="1"/>
          <a:stretch>
            <a:fillRect/>
          </a:stretch>
        </p:blipFill>
        <p:spPr>
          <a:xfrm>
            <a:off x="6817629" y="1704358"/>
            <a:ext cx="3899155" cy="3438804"/>
          </a:xfrm>
          <a:prstGeom prst="rect">
            <a:avLst/>
          </a:prstGeom>
          <a:ln w="28575">
            <a:noFill/>
          </a:ln>
        </p:spPr>
      </p:pic>
      <p:sp>
        <p:nvSpPr>
          <p:cNvPr id="63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5" name="Graphic 212">
            <a:extLst>
              <a:ext uri="{FF2B5EF4-FFF2-40B4-BE49-F238E27FC236}">
                <a16:creationId xmlns:a16="http://schemas.microsoft.com/office/drawing/2014/main" id="{EB8560A9-B281-46EB-A304-1E4A5A00D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67882DD-56E8-460E-99D5-86E71982D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45C5BB-6BA9-A9E9-7DEE-5F7D51ABD2A5}"/>
              </a:ext>
            </a:extLst>
          </p:cNvPr>
          <p:cNvSpPr txBox="1"/>
          <p:nvPr/>
        </p:nvSpPr>
        <p:spPr>
          <a:xfrm>
            <a:off x="902643" y="971574"/>
            <a:ext cx="4382403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atin typeface="Times New Roman"/>
                <a:cs typeface="Times New Roman"/>
              </a:rPr>
              <a:t>Hidden Winners: Predicting High-Potential Bingo Outlets Through Retail Execution Analytics at ITC</a:t>
            </a:r>
            <a:r>
              <a:rPr lang="en-US" sz="2500" dirty="0">
                <a:latin typeface="Times New Roman"/>
                <a:cs typeface="Times New Roman"/>
              </a:rPr>
              <a:t> </a:t>
            </a:r>
            <a:endParaRPr lang="en-US" sz="2500" dirty="0"/>
          </a:p>
          <a:p>
            <a:pPr algn="ctr"/>
            <a:endParaRPr lang="en-IN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AE4A1-94B2-E999-DA83-77CA36AADAB2}"/>
              </a:ext>
            </a:extLst>
          </p:cNvPr>
          <p:cNvSpPr txBox="1"/>
          <p:nvPr/>
        </p:nvSpPr>
        <p:spPr>
          <a:xfrm>
            <a:off x="1331737" y="2761714"/>
            <a:ext cx="3686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Corporate Internship Project</a:t>
            </a:r>
            <a:r>
              <a:rPr lang="en-US" dirty="0">
                <a:latin typeface="Times New Roman"/>
                <a:cs typeface="Times New Roman"/>
              </a:rPr>
              <a:t> </a:t>
            </a:r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2F6344-F4E4-29EC-CC66-22F9F65C9FAC}"/>
              </a:ext>
            </a:extLst>
          </p:cNvPr>
          <p:cNvSpPr txBox="1"/>
          <p:nvPr/>
        </p:nvSpPr>
        <p:spPr>
          <a:xfrm>
            <a:off x="234517" y="3474114"/>
            <a:ext cx="20514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latin typeface="Times New Roman"/>
                <a:cs typeface="Times New Roman"/>
              </a:rPr>
              <a:t>Corporate Mentor</a:t>
            </a:r>
            <a:endParaRPr lang="en-US" sz="18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latin typeface="Times New Roman"/>
                <a:cs typeface="Times New Roman"/>
              </a:rPr>
              <a:t>Mr. Harish Mitra</a:t>
            </a:r>
            <a:endParaRPr lang="en-US" sz="18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Times New Roman"/>
                <a:cs typeface="Times New Roman"/>
              </a:rPr>
              <a:t>Area Sales Manager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Times New Roman"/>
                <a:cs typeface="Times New Roman"/>
              </a:rPr>
              <a:t>ITC Foods Division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6B88D7-157A-535D-0A08-B068C7C1980E}"/>
              </a:ext>
            </a:extLst>
          </p:cNvPr>
          <p:cNvSpPr txBox="1"/>
          <p:nvPr/>
        </p:nvSpPr>
        <p:spPr>
          <a:xfrm>
            <a:off x="4017471" y="3474114"/>
            <a:ext cx="19968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latin typeface="Times New Roman"/>
                <a:cs typeface="Times New Roman"/>
              </a:rPr>
              <a:t>Faculty Mentor</a:t>
            </a:r>
            <a:endParaRPr lang="en-US" sz="1800" dirty="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latin typeface="Times New Roman"/>
                <a:cs typeface="Times New Roman"/>
              </a:rPr>
              <a:t>Prof. Alok Tewari</a:t>
            </a:r>
            <a:endParaRPr lang="en-US" sz="1800" dirty="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Times New Roman"/>
                <a:cs typeface="Times New Roman"/>
              </a:rPr>
              <a:t>Faculty Mentor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Times New Roman"/>
                <a:cs typeface="Times New Roman"/>
              </a:rPr>
              <a:t>FIIB</a:t>
            </a: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27299C-924A-D6C7-DB6E-2263620B717F}"/>
              </a:ext>
            </a:extLst>
          </p:cNvPr>
          <p:cNvSpPr txBox="1"/>
          <p:nvPr/>
        </p:nvSpPr>
        <p:spPr>
          <a:xfrm>
            <a:off x="306876" y="4999069"/>
            <a:ext cx="6094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latin typeface="Times New Roman"/>
                <a:cs typeface="Times New Roman"/>
              </a:rPr>
              <a:t>Submitted By</a:t>
            </a:r>
            <a:endParaRPr lang="en-US"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latin typeface="Times New Roman"/>
                <a:cs typeface="Times New Roman"/>
              </a:rPr>
              <a:t>Kritika Choubey</a:t>
            </a:r>
            <a:endParaRPr lang="en-US"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Times New Roman"/>
                <a:cs typeface="Times New Roman"/>
              </a:rPr>
              <a:t>PGDM (2025-27)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Times New Roman"/>
                <a:cs typeface="Times New Roman"/>
              </a:rPr>
              <a:t>Roll No. 25PGDM027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CB1D39-68D4-4372-BF3B-2A33A7495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0E9B1DB-5C91-41C9-8C0D-C2CD3D570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542" y="1264801"/>
            <a:ext cx="4892216" cy="4511751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2224B8-FCE1-4A12-84A7-B674B2B9E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542" y="1264801"/>
            <a:ext cx="4892216" cy="4511751"/>
          </a:xfrm>
          <a:prstGeom prst="rect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1E366A2-885B-4E10-A479-4A650E4C6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1173124"/>
            <a:ext cx="4892216" cy="451175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55C61911-45B2-48BF-AC7A-1EB579B42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DE4D4CE-6DAE-4A05-BE5B-6BCE3F4E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0C23D31-5B0A-4956-A59F-A24F57D2A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4C6FC6E-4AAF-4628-B7E5-85DF9D32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BD9F14-A811-7914-A02A-4B27AE80B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194" r="2876" b="-1241"/>
          <a:stretch>
            <a:fillRect/>
          </a:stretch>
        </p:blipFill>
        <p:spPr>
          <a:xfrm>
            <a:off x="900966" y="1732611"/>
            <a:ext cx="4723947" cy="3029343"/>
          </a:xfrm>
          <a:prstGeom prst="rect">
            <a:avLst/>
          </a:prstGeom>
        </p:spPr>
      </p:pic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C6CC87C-0512-E4D6-C884-10DC70391940}"/>
              </a:ext>
            </a:extLst>
          </p:cNvPr>
          <p:cNvSpPr txBox="1"/>
          <p:nvPr/>
        </p:nvSpPr>
        <p:spPr>
          <a:xfrm>
            <a:off x="1872343" y="127000"/>
            <a:ext cx="8556171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0" i="0" u="none" strike="noStrike" baseline="0">
                <a:solidFill>
                  <a:srgbClr val="000000"/>
                </a:solidFill>
                <a:latin typeface="Times New Roman"/>
              </a:rPr>
              <a:t>Company Overview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FEDD4-EC6E-D68B-212C-83327524D471}"/>
              </a:ext>
            </a:extLst>
          </p:cNvPr>
          <p:cNvSpPr txBox="1"/>
          <p:nvPr/>
        </p:nvSpPr>
        <p:spPr>
          <a:xfrm>
            <a:off x="6001657" y="1556657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1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ITC Limited</a:t>
            </a:r>
            <a:r>
              <a:rPr lang="en-US" sz="18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just" rtl="0"/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ITC Limited is one of India's leading diversified FMCG companies with a strong presence across food, personal care, stationery, agri-business, hotels, and paperboards. Its Foods Division has built a strong market presence through brands such as Aashirvaad, Sunfeast, YiPPee!, Bingo! and B Natural supported by an extensive distribution and retail network.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B1FDF-080F-0AE1-17AF-FFE404418BB6}"/>
              </a:ext>
            </a:extLst>
          </p:cNvPr>
          <p:cNvSpPr txBox="1"/>
          <p:nvPr/>
        </p:nvSpPr>
        <p:spPr>
          <a:xfrm>
            <a:off x="6001657" y="4045857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1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ITC Bingo!</a:t>
            </a:r>
            <a:r>
              <a:rPr lang="en-US" sz="18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Bingo! is ITC's flagship snacks brand, competing in the highly competitive Indian snacks market. The brand focuses on driving sales through strong retail execution, product visibility, effective merchandising, and strategic outlet management.</a:t>
            </a:r>
            <a:r>
              <a:rPr lang="en-US" sz="18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17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B5523EE-90D9-4CF8-96F2-CBFC11C54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3531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6A3179-AD28-4A0B-AF49-B177F4B19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547" y="1029607"/>
            <a:ext cx="4754948" cy="47549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32BB3330-EA02-4FA9-B58F-AAC7762C9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5096" y="934855"/>
            <a:ext cx="4754948" cy="4754948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A107891B-442C-43CD-B909-A4714253A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82339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958516B8-2D23-4511-B8C5-79180A4D0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82339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3BEE693-6C9D-40AB-925E-0E339B1D1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148" y="4651811"/>
            <a:ext cx="429742" cy="429742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BA526E9-439B-4D9E-8A55-1D30C337E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148" y="4651811"/>
            <a:ext cx="429742" cy="429742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E0D7E-F660-42F0-BB95-F4A0F794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890" y="1690851"/>
            <a:ext cx="3200400" cy="3391512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latin typeface="Times New Roman"/>
                <a:ea typeface="+mj-lt"/>
                <a:cs typeface="Times New Roman"/>
              </a:rPr>
              <a:t>Business Context &amp; Project Assignment</a:t>
            </a:r>
          </a:p>
          <a:p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1F48CD-C633-43E4-6A59-CB4CE5ABF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6423717"/>
              </p:ext>
            </p:extLst>
          </p:nvPr>
        </p:nvGraphicFramePr>
        <p:xfrm>
          <a:off x="5479786" y="454534"/>
          <a:ext cx="5917555" cy="6295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6293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7B0AC6-5208-00C0-AD89-ECCCD4D9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Project Objectives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aphic 190">
            <a:extLst>
              <a:ext uri="{FF2B5EF4-FFF2-40B4-BE49-F238E27FC236}">
                <a16:creationId xmlns:a16="http://schemas.microsoft.com/office/drawing/2014/main" id="{53883AA7-7F86-41F8-A1D8-06E9886E7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36528"/>
            <a:ext cx="1291642" cy="429215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80ACB6-0FE0-4F10-998D-2E8D46375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C2903D5-FF18-4A00-8E9F-9335FCF1E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Graphic 212">
            <a:extLst>
              <a:ext uri="{FF2B5EF4-FFF2-40B4-BE49-F238E27FC236}">
                <a16:creationId xmlns:a16="http://schemas.microsoft.com/office/drawing/2014/main" id="{DBBB6517-AFD0-4A58-8B37-F17AB81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4904" y="5539746"/>
            <a:ext cx="705479" cy="705479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3E39FCFD-033D-4043-95D9-7FAAAA8E0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4904" y="5539746"/>
            <a:ext cx="705479" cy="705479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F8E643-F034-47A2-1F15-B9E8C7ED90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65696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974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1CE7A08-2184-4B99-ABC0-B40CD1D3F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8D726-F7EE-F70B-422C-98FF84D1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5" y="3640344"/>
            <a:ext cx="3826286" cy="32153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Study &amp; Market Assessment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0654" y="4275786"/>
            <a:ext cx="2691346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552FC29-9118-466F-940E-80C84EFD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0654" y="4275786"/>
            <a:ext cx="2691346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81129E-4173-9D88-6577-7F2319B2CAAF}"/>
              </a:ext>
            </a:extLst>
          </p:cNvPr>
          <p:cNvSpPr txBox="1"/>
          <p:nvPr/>
        </p:nvSpPr>
        <p:spPr>
          <a:xfrm>
            <a:off x="8259448" y="372680"/>
            <a:ext cx="3649630" cy="276202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 Evaluated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Visibility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Rack Health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Assortment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Availability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Footfall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 Presence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Outlet Type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57FC92-F366-CE1A-18FC-90F6D71307A6}"/>
              </a:ext>
            </a:extLst>
          </p:cNvPr>
          <p:cNvSpPr txBox="1"/>
          <p:nvPr/>
        </p:nvSpPr>
        <p:spPr>
          <a:xfrm>
            <a:off x="4201886" y="1716314"/>
            <a:ext cx="378822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Market Assessment</a:t>
            </a:r>
          </a:p>
          <a:p>
            <a:pPr>
              <a:buFont typeface="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Conducted field visits across 54 retail outlets in the East Delhi market. </a:t>
            </a:r>
          </a:p>
          <a:p>
            <a:pPr>
              <a:buFont typeface="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Observed retail execution practices alongside the ITC sales team through regular market visits. </a:t>
            </a:r>
          </a:p>
          <a:p>
            <a:pPr>
              <a:buFont typeface="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Assessed outlet performance using structured field observations and retailer interactions. </a:t>
            </a:r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BDAEA-DAF8-108E-40E0-CBE0F920401E}"/>
              </a:ext>
            </a:extLst>
          </p:cNvPr>
          <p:cNvSpPr txBox="1"/>
          <p:nvPr/>
        </p:nvSpPr>
        <p:spPr>
          <a:xfrm>
            <a:off x="3448016" y="5810057"/>
            <a:ext cx="3058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DM Sans" pitchFamily="2" charset="0"/>
                <a:hlinkClick r:id="rId2"/>
              </a:rPr>
              <a:t>Database created</a:t>
            </a:r>
            <a:endParaRPr lang="en-IN" b="1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3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F84FE-66A9-C711-9B46-BB15B1F1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BFC7DFE-281C-BD39-FAED-1455E6E19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12FE7-DAF9-D104-E504-9104A3E6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94" y="565743"/>
            <a:ext cx="10515600" cy="112494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Key Findings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E25CC3D-91D2-CA50-5609-9846C8737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36528"/>
            <a:ext cx="1291642" cy="429215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2B36CE1-F5BF-C9D6-1C16-15A75F89A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30D126D-F0F3-2786-F2B6-E6D9A8CFC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A1B0EAA6-EC32-B1DB-72D7-FB69D35B6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4904" y="5539746"/>
            <a:ext cx="705479" cy="705479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24997736-5669-7C93-0D10-73E1309E0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4904" y="5539746"/>
            <a:ext cx="705479" cy="705479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609D03-F67B-A46C-A7BA-0DDF3E1E00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450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0062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7332A-5542-E862-57A0-39B396021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D1FF148-6725-4278-A9A8-A9A6A3F26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038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247507B-4D21-4FF7-B49C-239309CF2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0389" y="4752208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4910D5-23BD-10B4-8727-A7C464B30F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0881557"/>
              </p:ext>
            </p:extLst>
          </p:nvPr>
        </p:nvGraphicFramePr>
        <p:xfrm>
          <a:off x="344715" y="1687740"/>
          <a:ext cx="11400970" cy="4743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A13B939-042D-3667-4016-A6941953141D}"/>
              </a:ext>
            </a:extLst>
          </p:cNvPr>
          <p:cNvSpPr txBox="1"/>
          <p:nvPr/>
        </p:nvSpPr>
        <p:spPr>
          <a:xfrm>
            <a:off x="3421994" y="1791815"/>
            <a:ext cx="583659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</a:rPr>
              <a:t>2</a:t>
            </a:r>
            <a:endParaRPr lang="en-IN" sz="4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506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aphic 190">
            <a:extLst>
              <a:ext uri="{FF2B5EF4-FFF2-40B4-BE49-F238E27FC236}">
                <a16:creationId xmlns:a16="http://schemas.microsoft.com/office/drawing/2014/main" id="{55A100E1-E66E-4ED2-A56A-F7A819228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725954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B9672F-EB60-4C69-965D-C7AD5217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7B9190C-E3A6-476A-9BBD-79CC3E7A0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" name="Graphic 212">
            <a:extLst>
              <a:ext uri="{FF2B5EF4-FFF2-40B4-BE49-F238E27FC236}">
                <a16:creationId xmlns:a16="http://schemas.microsoft.com/office/drawing/2014/main" id="{CAB9AD4F-A248-4D49-8779-CE40E64C0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315927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3D4C1981-3D8B-446C-BFAE-E7EE5CF2D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315927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B92380-E9AD-4474-9467-4DCB8EB50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31112" y="5203828"/>
            <a:ext cx="1861463" cy="1253072"/>
            <a:chOff x="9731112" y="5203828"/>
            <a:chExt cx="1861463" cy="1253072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EA9CEFA-65DF-4773-AB16-4E0811348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203828"/>
              <a:ext cx="36465" cy="36221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5B46568-197D-4462-A2AB-B32016E07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203828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A310550-C5D3-4B44-A74F-CA522D3EA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320944-CB85-404B-ACEB-4C621A2DE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F09ADAE-8ED7-4349-9F53-C9846B34A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4A30888-D632-4303-AD63-F9F6425F6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5203828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94E026-3245-4E27-8FA4-B5E50398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980A2D-E8F8-4D53-96BD-549B6E43C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203828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9B2DDE9-70F9-46DE-A98D-A9E6A15B0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D6359C0-FED2-4F38-AF2C-D2CCB137C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731DFD6-7643-4367-B357-419597215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5AD929-BDD1-4C17-B069-7F26DA239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A89B223-AC6D-428A-ADA0-A8107F132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55AE910-CDA0-467B-91F1-30022FC702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356051"/>
              <a:ext cx="36465" cy="36221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280BBB4-49D0-40C7-949B-CE40E918B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356046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A691FB-DA8E-4CB6-B2CB-43996A8A6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6ABC7EF-0297-4356-A5FE-85B70C226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2A4C124-2BE2-47A7-88BD-0D0E70225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77B5782-F97B-49E6-B4CF-05080D43F7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356051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B45F28A-82A7-4E2A-AC1D-A9080F5F5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04D3904-C2B3-4481-9AD0-4F4B97BF7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356044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7E99BD2-8425-452F-BBC9-DA271A4D4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356044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6826B2E-CE5F-4751-AB16-2F5D38E0D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356044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3D69C59-2023-4CEC-BA7C-5EE1834EC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356044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B90D7BC-1D4E-4E24-B1E4-700CFE90C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35604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9425F03-8DA8-4B30-8D52-0F823F557C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356046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5042418-2AFD-437C-BDFE-95057749D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508030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F7247EC-FBD7-42B0-89E1-981401897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508030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642B17A-8F41-4932-B0D0-CAA198A36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BC09251-BDF7-47DB-8213-2FD24431C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F3F5D47-FD51-41B4-B385-72FB1B83FD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FEDA36F-4DFB-4CF9-AFCB-DF2830797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5508030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4B82A4E-24F2-4AF9-ACD9-032004D5C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48A1B0D-4A06-45BC-B4BC-CFC5300FB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508025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5FAD49E-FD72-4576-A940-2428587BC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0C5050F-FCF4-41AE-A014-DA0E79C9D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05C37E2-39BD-41F3-A48B-0D6656AFD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ADE8E63-21C2-4361-9759-81558A67FB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BB2F91E-6261-407E-AB8B-BC2971C5E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508025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1B8D98F-3287-4463-9C66-4D5562880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660254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4B4DF75-5954-4360-BD08-C0F14F07B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660248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9646D91-7334-4EF7-854E-31229C0EB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B52D0D3-BAB6-4E87-A7E3-042FE194E0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C99FAD0-CAF0-416B-A5C2-BF67795C5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E22E26C-C150-4D82-9949-7CBE6C6E3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660254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072F62D-B9FA-4CBD-8427-DCDAE9724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A5E7E19-8DF1-4E35-B975-14DB353C5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660246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29CC129-69D0-48B1-969C-406A8EC16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863A762-C2BE-4B7F-8F77-FB38598FD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75ED5B7-A269-4716-8A91-60C4640BC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53D700F-89B5-47C3-88CF-F491CCA23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60B6165-C5E0-4495-B9AC-5D3FAA17C3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66025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2C06BE7-B255-49E8-AFD7-16EA0DEED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812233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62BAA60-4FD3-4ED5-85B8-FA1AEBB54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81223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D285C5F-B15D-4C99-876E-11EA0EDDB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1D3315B-6CF6-4B8A-9AD6-15E8ED774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2316A1B-DF30-4B08-A25E-634088C3A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3B9824C-F3A0-4BB5-BA2D-E7B2C873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81223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74AA607-331A-4D12-9628-01D4184C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C5FC238-AD32-4501-B2D5-55A3F1409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81223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2651C95-EE88-4D97-A4BD-842E093F0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D800BB2-C68A-40A6-8CD4-A733BD0DB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697780E-7DCF-4651-9953-FE1A7062C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B417FEE-0006-405F-A3EF-741EC0C6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D2CA75D-333A-4FC0-A35C-150218932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8122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1FE7FEB-856E-4B91-9524-7CB608A04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964459"/>
              <a:ext cx="36465" cy="36221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815A820-71A2-4F06-909A-802956FC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964453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135222E-6463-4F37-A52D-8E5F48B17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4C684AC-F7CB-4096-BD97-E024A2203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AEB483C-20AB-4095-912D-AB52A7C32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D1625C5-4D6F-4AF0-8F52-3E430AD86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964459"/>
              <a:ext cx="36221" cy="36221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E6AC22C-25A4-400A-8E40-0DA9119C5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4586291-7B87-4844-A3C7-1B10E7070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964451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E6C849B-AC63-4611-9425-967763280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96445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3DD2AB7-F94D-4A1E-8D17-3A8418C7D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96445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99CE3DE-A5D3-4CBC-9771-BA0D4A71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96445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51F4BCD-DCFB-49C5-AA53-912A2644D5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9644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17BD47A-2F24-467E-A016-650656A35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964453"/>
              <a:ext cx="36218" cy="36221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60F5B69-D34A-4A38-AC4F-E04BB730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116440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6D5DFC6-ED6D-4E93-BBFD-32876861C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116440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46009FB-3E9E-46F5-9DC9-B225C7B7D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10C4A9D-1BAD-4C1A-B643-39CEA7C56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786231-B3C8-45C0-AB76-F0F35D7E1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8E05DBD8-3FC9-47DE-88E7-849A2BE28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6116440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F8B45623-D400-48AE-99CB-C50EF8208C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50817F4-286D-4A64-A707-319964118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6116435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E2CBB23-BC03-4233-B66D-F3E1BC361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611643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5B057C8-A242-41ED-B0DB-78B245C07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611643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CB4C1C0-5F41-4E24-A7CD-AFB1DE7B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61164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153209C-5637-4CEC-AB94-73A0EA2C7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611643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7A55A31-FEC9-482A-B837-965828913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3BA94A3-F00C-4D17-9254-A955E4414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268419"/>
              <a:ext cx="36465" cy="36219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A2902DE-23EF-49CE-A669-B9096A9D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268419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5780746-7CB1-459B-ACF8-EE4C8FA2DA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6EC72100-CCC7-485B-AB73-AFE6263C2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0330226-7157-4C26-8B12-849E7E40B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F6FC5CE2-A4E9-48A9-A687-9D3CBDF2C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6268419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71F8A61-039C-4875-ABD2-DDAD0AF61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5E9C48D7-E617-453A-95A7-4CBADCB70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68" y="6268419"/>
              <a:ext cx="36221" cy="36219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028847A-3236-456C-ABCA-F17FACC74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50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68F10DA-E024-4DFF-B71A-284CE3783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73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D1258F2-08D2-4674-BB2B-00DA3F054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54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CA4E673-ADD3-4C6A-B67D-077CD7F76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80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E8412C5A-7E5C-437B-A36E-FD4ADC57E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57" y="6268417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56AC8FA-ED34-4749-9A15-E878B4088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420645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EE8845F-6312-4CB4-8345-10FAA6E91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420645"/>
              <a:ext cx="36221" cy="36221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B6649974-BABE-465B-934C-798CD398A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A2E8120-B8AC-4058-AB81-44A99CF53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B3ACBEF-904A-4B73-A8B1-3A62AC125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80CD75B-0C3D-4186-B1D8-E58A7580E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6420645"/>
              <a:ext cx="36221" cy="36221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17D40FB-488F-4EFD-9019-8E5802A73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7089A9FA-C815-459B-8D43-862AC2805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68" y="642065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A360E5B-3ABC-46DD-9DFE-5D8D1D4D21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50" y="642066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DBCC9121-E8F5-49AE-869E-1245398D1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73" y="642066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190A7C8-B00C-4DCB-929A-32881103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54" y="642066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DFBC02C4-69CC-4293-9249-E28D9F2C5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80" y="642067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4748328-B03B-4EDD-96F0-DAF652720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57" y="6420679"/>
              <a:ext cx="36218" cy="36221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63C16D-C8E6-0465-AEDE-3303A5AF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9506" y="6064311"/>
            <a:ext cx="3543903" cy="78519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Solution</a:t>
            </a:r>
          </a:p>
        </p:txBody>
      </p:sp>
      <p:graphicFrame>
        <p:nvGraphicFramePr>
          <p:cNvPr id="137" name="TextBox 3">
            <a:extLst>
              <a:ext uri="{FF2B5EF4-FFF2-40B4-BE49-F238E27FC236}">
                <a16:creationId xmlns:a16="http://schemas.microsoft.com/office/drawing/2014/main" id="{5449126A-524C-F2A2-13AF-46727517EE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0166636"/>
              </p:ext>
            </p:extLst>
          </p:nvPr>
        </p:nvGraphicFramePr>
        <p:xfrm>
          <a:off x="2394786" y="781106"/>
          <a:ext cx="6237584" cy="5432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4" name="TextBox 173">
            <a:extLst>
              <a:ext uri="{FF2B5EF4-FFF2-40B4-BE49-F238E27FC236}">
                <a16:creationId xmlns:a16="http://schemas.microsoft.com/office/drawing/2014/main" id="{CA46CFF1-4612-9269-95D0-87763F282110}"/>
              </a:ext>
            </a:extLst>
          </p:cNvPr>
          <p:cNvSpPr txBox="1"/>
          <p:nvPr/>
        </p:nvSpPr>
        <p:spPr>
          <a:xfrm>
            <a:off x="8846456" y="2100943"/>
            <a:ext cx="3207658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 rtl="0"/>
            <a:r>
              <a:rPr lang="en-US" sz="1800" b="1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AI-Assisted Solution</a:t>
            </a:r>
            <a:r>
              <a:rPr lang="en-US" sz="18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r"/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Developed an </a:t>
            </a:r>
            <a:r>
              <a:rPr lang="en-US" sz="17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AI-Assisted Outlet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Data Entry &amp; </a:t>
            </a:r>
            <a:r>
              <a:rPr lang="en-US" sz="17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Outlet Scoring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System to </a:t>
            </a:r>
            <a:r>
              <a:rPr lang="en-US" sz="17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digitally capture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outlet </a:t>
            </a:r>
            <a:r>
              <a:rPr lang="en-US" sz="17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observations and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evaluate each </a:t>
            </a:r>
            <a:r>
              <a:rPr lang="en-US" sz="170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outlet using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predefined </a:t>
            </a:r>
            <a:r>
              <a:rPr lang="en-US" sz="170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retail execution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 parameters.</a:t>
            </a:r>
          </a:p>
          <a:p>
            <a:pPr algn="r"/>
            <a:endParaRPr lang="en-US">
              <a:solidFill>
                <a:srgbClr val="000000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0C81FDB-1BB6-3EF1-7B52-BB7C258D4921}"/>
              </a:ext>
            </a:extLst>
          </p:cNvPr>
          <p:cNvSpPr txBox="1"/>
          <p:nvPr/>
        </p:nvSpPr>
        <p:spPr>
          <a:xfrm>
            <a:off x="420914" y="315686"/>
            <a:ext cx="2663372" cy="24776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="1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Problem Identified</a:t>
            </a:r>
            <a:r>
              <a:rPr lang="en-US" sz="18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Field observations </a:t>
            </a:r>
            <a:r>
              <a:rPr lang="en-US" sz="17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were manually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 </a:t>
            </a:r>
            <a:r>
              <a:rPr lang="en-US" sz="17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recorded and compared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, making </a:t>
            </a:r>
            <a:r>
              <a:rPr lang="en-US" sz="17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outlet </a:t>
            </a:r>
            <a:r>
              <a:rPr lang="en-US" sz="170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evaluation time consuming</a:t>
            </a:r>
            <a:r>
              <a:rPr lang="en-US" sz="17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, 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inconsistent,</a:t>
            </a:r>
            <a:r>
              <a:rPr lang="en-US" sz="17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and dependent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 </a:t>
            </a:r>
            <a:r>
              <a:rPr lang="en-US" sz="17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on individual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judgement.</a:t>
            </a:r>
          </a:p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982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aphic 190">
            <a:extLst>
              <a:ext uri="{FF2B5EF4-FFF2-40B4-BE49-F238E27FC236}">
                <a16:creationId xmlns:a16="http://schemas.microsoft.com/office/drawing/2014/main" id="{53883AA7-7F86-41F8-A1D8-06E9886E7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36528"/>
            <a:ext cx="1291642" cy="429215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C80ACB6-0FE0-4F10-998D-2E8D46375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C2903D5-FF18-4A00-8E9F-9335FCF1E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Graphic 212">
            <a:extLst>
              <a:ext uri="{FF2B5EF4-FFF2-40B4-BE49-F238E27FC236}">
                <a16:creationId xmlns:a16="http://schemas.microsoft.com/office/drawing/2014/main" id="{DBBB6517-AFD0-4A58-8B37-F17AB81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4904" y="5539746"/>
            <a:ext cx="705479" cy="705479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1" name="Graphic 212">
            <a:extLst>
              <a:ext uri="{FF2B5EF4-FFF2-40B4-BE49-F238E27FC236}">
                <a16:creationId xmlns:a16="http://schemas.microsoft.com/office/drawing/2014/main" id="{3E39FCFD-033D-4043-95D9-7FAAAA8E0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4904" y="5539746"/>
            <a:ext cx="705479" cy="705479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aphicFrame>
        <p:nvGraphicFramePr>
          <p:cNvPr id="5" name="TextBox 3">
            <a:extLst>
              <a:ext uri="{FF2B5EF4-FFF2-40B4-BE49-F238E27FC236}">
                <a16:creationId xmlns:a16="http://schemas.microsoft.com/office/drawing/2014/main" id="{DE7A24D0-6491-16DC-A26A-8A32853E4B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9015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08" name="TextBox 1107">
            <a:extLst>
              <a:ext uri="{FF2B5EF4-FFF2-40B4-BE49-F238E27FC236}">
                <a16:creationId xmlns:a16="http://schemas.microsoft.com/office/drawing/2014/main" id="{590A7B7F-BBD6-DDC1-E801-7370DC017FF2}"/>
              </a:ext>
            </a:extLst>
          </p:cNvPr>
          <p:cNvSpPr txBox="1"/>
          <p:nvPr/>
        </p:nvSpPr>
        <p:spPr>
          <a:xfrm>
            <a:off x="1690914" y="572156"/>
            <a:ext cx="9173027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Workflow &amp; Prototype Demonstration</a:t>
            </a:r>
            <a:r>
              <a:rPr sz="4400" b="0" i="0" dirty="0">
                <a:solidFill>
                  <a:srgbClr val="000000"/>
                </a:solidFill>
                <a:latin typeface="Times New Roman" panose="02020603050405020304" pitchFamily="18" charset="0"/>
                <a:ea typeface="Avenir Next LT Pro"/>
                <a:cs typeface="Times New Roman" panose="02020603050405020304" pitchFamily="18" charset="0"/>
              </a:rPr>
              <a:t>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89F316-2D5D-930A-D3F2-9ACF8BD5F463}"/>
              </a:ext>
            </a:extLst>
          </p:cNvPr>
          <p:cNvSpPr txBox="1"/>
          <p:nvPr/>
        </p:nvSpPr>
        <p:spPr>
          <a:xfrm>
            <a:off x="6391072" y="2499419"/>
            <a:ext cx="144942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200" dirty="0">
                <a:solidFill>
                  <a:schemeClr val="bg1"/>
                </a:solidFill>
              </a:rPr>
              <a:t>03</a:t>
            </a:r>
            <a:endParaRPr lang="en-IN" sz="6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852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AC42-A574-12F4-2412-41C39EB31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Business Impact &amp; Key Learnings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A83BF-6C5E-BB2D-D417-A9EC20304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Business Impact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524BB-AFA2-4BBC-A8EF-E4D0AED11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 w="285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Demonstrated a structured approach for evaluating retail outlets beyond conventional sales metrics.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Converted field observations into standardized data, enabling objective outlet comparison and prioritization.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Highlighted execution gaps that are often overlooked during routine market visits.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Showcased the potential of AI-assisted analytics to support faster and more informed retail execution decisions.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346C66-8339-458E-CCF0-9D1F280AD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Key Learnings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9B2A8-C6B3-81EB-3FA9-8C688E4A0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 w="285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Understood that retail execution, not just distribution, drives visibility and category performance in FMCG.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Learned how outlet-level factors such as rack health, assortment, and retailer engagement influence business outcomes.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Experienced how structured field data can be transformed into actionable business insights. </a:t>
            </a: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Explored the practical application of AI and analytics in solving real-world sales execution challenges.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127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D72A4A-771D-4FE0-A07E-D0DAF4D6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448" y="447277"/>
            <a:ext cx="3294813" cy="5911481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BB7246-8AFD-47FC-A1F4-491E0167E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9940" y="438890"/>
            <a:ext cx="3294813" cy="5911481"/>
          </a:xfrm>
          <a:prstGeom prst="rect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A6DF2E7-0906-4F1E-9B28-48B1A4D8E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308343"/>
            <a:ext cx="3294813" cy="591148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684FEC42-F70A-4505-A5DF-EC67268FE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841" y="49924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7D10AF26-17A2-4FA8-824A-F78507AF6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841" y="49924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D2A68-BEE7-B6AF-F1AD-7507633D4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105985" cy="423811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Future 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E8B2E8E5-BAEF-D000-3B17-D01FECDC4B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7554084"/>
              </p:ext>
            </p:extLst>
          </p:nvPr>
        </p:nvGraphicFramePr>
        <p:xfrm>
          <a:off x="4782386" y="447277"/>
          <a:ext cx="6571413" cy="5729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7641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94A2-270A-5D03-60CC-B97B8A51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CAF872-F437-C6C7-6E32-BDA7D02F3C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7624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8446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24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040A1-44CB-A098-7EE0-8B32F27D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19" y="810623"/>
            <a:ext cx="4894428" cy="35701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cap="all" spc="1500" dirty="0">
                <a:latin typeface="Times New Roman" panose="02020603050405020304" pitchFamily="18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THANKYOU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EBBF56-923D-48A7-9F8F-86E33CFA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81655" y="673020"/>
            <a:ext cx="4833902" cy="5683329"/>
            <a:chOff x="1674895" y="1345036"/>
            <a:chExt cx="5428610" cy="421093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D5794E-BC9E-4A8A-BB29-9A32C8F26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16175AF-13E0-4D14-8638-11BBE8359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5D90773-FF5A-06B9-84DC-102136058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563" y="1126418"/>
            <a:ext cx="3641286" cy="4594684"/>
          </a:xfrm>
          <a:prstGeom prst="rect">
            <a:avLst/>
          </a:prstGeom>
          <a:ln w="28575">
            <a:noFill/>
          </a:ln>
        </p:spPr>
      </p:pic>
      <p:sp>
        <p:nvSpPr>
          <p:cNvPr id="33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Graphic 212">
            <a:extLst>
              <a:ext uri="{FF2B5EF4-FFF2-40B4-BE49-F238E27FC236}">
                <a16:creationId xmlns:a16="http://schemas.microsoft.com/office/drawing/2014/main" id="{EB8560A9-B281-46EB-A304-1E4A5A00D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67882DD-56E8-460E-99D5-86E71982D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82296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1338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</vt:lpstr>
      <vt:lpstr>DM Sans</vt:lpstr>
      <vt:lpstr>Times New Roman</vt:lpstr>
      <vt:lpstr>FunkyShapesVTI</vt:lpstr>
      <vt:lpstr>PowerPoint Presentation</vt:lpstr>
      <vt:lpstr>PowerPoint Presentation</vt:lpstr>
      <vt:lpstr>Business Context &amp; Project Assignment </vt:lpstr>
      <vt:lpstr>Project Objectives</vt:lpstr>
      <vt:lpstr>Field Study &amp; Market Assessment</vt:lpstr>
      <vt:lpstr>Key Findings</vt:lpstr>
      <vt:lpstr>Recommendations</vt:lpstr>
      <vt:lpstr>AI Solution</vt:lpstr>
      <vt:lpstr>PowerPoint Presentation</vt:lpstr>
      <vt:lpstr>Business Impact &amp; Key Learnings</vt:lpstr>
      <vt:lpstr>Future Scope</vt:lpstr>
      <vt:lpstr>Conclusion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kritika choubey</cp:lastModifiedBy>
  <cp:revision>508</cp:revision>
  <dcterms:created xsi:type="dcterms:W3CDTF">2026-07-14T16:09:43Z</dcterms:created>
  <dcterms:modified xsi:type="dcterms:W3CDTF">2026-07-18T16:52:49Z</dcterms:modified>
</cp:coreProperties>
</file>